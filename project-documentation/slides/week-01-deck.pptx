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of Monday 7 September, about four hours with one break, both lecturers in the room.</a:t>
            </a:r>
          </a:p>
          <a:p/>
          <a:p>
            <a:r>
              <a:t>Goal: everyone leaves in a team of four, with both first drafts started, and we leave with a read on where the group starts.</a:t>
            </a:r>
          </a:p>
          <a:p/>
          <a:p>
            <a:r>
              <a:t>Pre-reading was Draghi's address to the European Parliament, eleven pages. Ask who read it; do not make a point of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modules, taught as one pipeline to the same teams.</a:t>
            </a:r>
          </a:p>
          <a:p/>
          <a:p>
            <a:r>
              <a:t>• AEL, the technical track: builds the tool. Witek.</a:t>
            </a:r>
          </a:p>
          <a:p>
            <a:r>
              <a:t>• AIBS, the research track: decides what the tool's output must achieve, and judges whether it does. Meike.</a:t>
            </a:r>
          </a:p>
          <a:p>
            <a:r>
              <a:t>• One research problem holds both: what do European SMEs need in order to implement AI in their business?</a:t>
            </a:r>
          </a:p>
          <a:p/>
          <a:p>
            <a:r>
              <a:t>Say once: you never work on one module at a time. Every week has both hats.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short: all of it is on the course page in writing, and they will read it again.</a:t>
            </a:r>
          </a:p>
          <a:p/>
          <a:p>
            <a:r>
              <a:t>• The handbook is the end goal — what a regional SME owner needs to know and decide about AI.</a:t>
            </a:r>
          </a:p>
          <a:p>
            <a:r>
              <a:t>• One new published page per team per week. New page, never an edit to an earlier one, so the trail of thinking stays visible.</a:t>
            </a:r>
          </a:p>
          <a:p>
            <a:r>
              <a:t>• Teams of four; everyone researches; each holds one AEL build role.</a:t>
            </a:r>
          </a:p>
          <a:p>
            <a:r>
              <a:t>• Six Mondays, then an assessment period: consolidated handbook and one joint interview, two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run this adaptively. We start with the first assignments, watch what the group can do, and decide week by week what comes next.</a:t>
            </a:r>
          </a:p>
          <a:p/>
          <a:p>
            <a:r>
              <a:t>Be explicit about the consequence: some things you want to know in week 1 do not exist yet in week 1. Each week's page appears about a week before its session.</a:t>
            </a:r>
          </a:p>
          <a:p/>
          <a:p>
            <a:r>
              <a:t>Left column is a promise — it will not move. Right column is decided as we go, and that is deliberate, so we pitch the work at the level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Timings, 240 minutes:</a:t>
            </a:r>
          </a:p>
          <a:p/>
          <a:p>
            <a:r>
              <a:t>• 0:00–0:20 welcome and how the module runs</a:t>
            </a:r>
          </a:p>
          <a:p>
            <a:r>
              <a:t>• 0:20–0:55 discussion 1, your experience with AI</a:t>
            </a:r>
          </a:p>
          <a:p>
            <a:r>
              <a:t>• 0:55–1:35 discussion 2, the Draghi report</a:t>
            </a:r>
          </a:p>
          <a:p>
            <a:r>
              <a:t>• 1:35–1:45 break</a:t>
            </a:r>
          </a:p>
          <a:p>
            <a:r>
              <a:t>• 1:45–2:10 team formation</a:t>
            </a:r>
          </a:p>
          <a:p>
            <a:r>
              <a:t>• 2:10–2:25 the two assignments</a:t>
            </a:r>
          </a:p>
          <a:p>
            <a:r>
              <a:t>• 2:25–3:40 team work time, both lecturers circulating</a:t>
            </a:r>
          </a:p>
          <a:p>
            <a:r>
              <a:t>• 3:40–4:00 share-out and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round; capture the answers on the board. Say that this is our diagnostic: it shapes the coming weeks, so understating what you can do does not help.</a:t>
            </a:r>
          </a:p>
          <a:p/>
          <a:p>
            <a:r>
              <a:t>Confidence check by hands, 1 to 5, three times: using AI tools; building something with AI; judging whether an AI output is any good.</a:t>
            </a:r>
          </a:p>
          <a:p/>
          <a:p>
            <a:r>
              <a:t>Keep a written record of three things: the confidence spread, the job-market and skills answers, and the "want to be able to do" answers. They go into the first decision-log entry after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Framing, about ten minutes, lecturer only.</a:t>
            </a:r>
          </a:p>
          <a:p/>
          <a:p>
            <a:r>
              <a:t>• What it is: Draghi's report for the European Commission, September 2024, on why the EU falls behind the US and China on growth and productivity.</a:t>
            </a:r>
          </a:p>
          <a:p>
            <a:r>
              <a:t>• Core diagnosis: largely a technology gap. Few large tech firms, and, the point that matters for us, slow to diffuse digital technology into the businesses Europe already has, especially SMEs.</a:t>
            </a:r>
          </a:p>
          <a:p>
            <a:r>
              <a:t>• On AI: Europe will not win by building frontier models alone; it has to get AI adopted across its industrial base.</a:t>
            </a:r>
          </a:p>
          <a:p>
            <a:r>
              <a:t>• Barriers for SMEs: fragmented single market, regulatory complexity, limited access to capital, skills shortages, limited scale.</a:t>
            </a:r>
          </a:p>
          <a:p>
            <a:r>
              <a:t>• Why it is our starting point: the handbook is a small, concrete contribution to exactly that diffusion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Guided discussion, about 25 minutes. The slide carries three questions; there is a fourth to ask between the second and the third:</a:t>
            </a:r>
          </a:p>
          <a:p/>
          <a:p>
            <a:r>
              <a:t>The report's lens is competitiveness. What does that lens underweight — trust, dependency on foreign vendors, jobs, data?</a:t>
            </a:r>
          </a:p>
          <a:p/>
          <a:p>
            <a:r>
              <a:t>Take the first question back to the board from discussion 1: the tools they named, and who makes them.</a:t>
            </a:r>
          </a:p>
          <a:p/>
          <a:p>
            <a:r>
              <a:t>The last question is the bridge into the assignments. End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of four, formed now, together for the run. Each member takes one build role; everyone also researches.</a:t>
            </a:r>
          </a:p>
          <a:p/>
          <a:p>
            <a:r>
              <a:t>Sanity check per team: four people, four roles, at least one willing to drive the command line, at least one who knows this region or can work in Dutch. If a team is missing one of the last two, say so now; it is far cheaper to fix in week 1 than in week 3.</a:t>
            </a:r>
          </a:p>
          <a:p/>
          <a:p>
            <a:r>
              <a:t>Push for four people who are not already a group. A team that formed in the corridor tends to research the firm one of them already knew.</a:t>
            </a:r>
          </a:p>
          <a:p/>
          <a:p>
            <a:r>
              <a:t>On roles: take the one you want to get better at. If you have never opened a terminal, developer is a legitimate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PRD prompt. The platform helps the team research and produce the handbook, one page a week. Its user is the team itself; the SME owner is the downstream reader.</a:t>
            </a:r>
          </a:p>
          <a:p/>
          <a:p>
            <a:r>
              <a:t>Walk the six sections. On constraints, say the four out loud: you direct an agentic CLI rather than hand-code; you reuse the wiki and the site; a non-coder must be able to run it; every automated step keeps a manual fallback.</a:t>
            </a:r>
          </a:p>
          <a:p/>
          <a:p>
            <a:r>
              <a:t>Add the point the slide does not carry: much of the source material is Dutch — CBS, the Chamber of Commerce, sector bodies, the regional press, probably the interview too. Crossing that gap is a requirement of the platform, not a favour someone does by hand. Say so in the PRD.</a:t>
            </a:r>
          </a:p>
          <a:p/>
          <a:p>
            <a:r>
              <a:t>The bar: a reader can tell what you are building, for whom, and how you will know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research proposal prompt. Walk the five sections.</a:t>
            </a:r>
          </a:p>
          <a:p/>
          <a:p>
            <a:r>
              <a:t>On target audience, give the shape of "specific enough": a sector, a size, a region and a decision the owner is actually facing. The week 1 page has the worked example — metal and machine-building firms in the Achterhoek, 20 to 100 staff, spending two days a week turning drawings into quotations. It is there to show the shape, not to be copied.</a:t>
            </a:r>
          </a:p>
          <a:p/>
          <a:p>
            <a:r>
              <a:t>Research question: one main question, at least four sub-questions, two external and two internal.</a:t>
            </a:r>
          </a:p>
          <a:p/>
          <a:p>
            <a:r>
              <a:t>Quality criteria: this list becomes the checklist the handbook is later judged against. Methodology: desk research plus one SME visit in weeks 2 to 4, and which questions each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documents constrain each other. The proposal's quality criteria and the PRD's output qualities describe the same thing from two sides. If they disagree, one of them is wrong; find out now, not in week 4.</a:t>
            </a:r>
          </a:p>
          <a:p/>
          <a:p>
            <a:r>
              <a:t>Team work time, 2:25 to 3:40. Both lecturers circulate: AEL on the PRD, AIBS on the proposal. Push every team, early and repeatedly, to name a concrete target SME: sector, size,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Share-out: each team, one sentence on who the handbook is for, and one open question they are stuck on.</a:t>
            </a:r>
          </a:p>
          <a:p/>
          <a:p>
            <a:r>
              <a:t>Then the close, four points:</a:t>
            </a:r>
          </a:p>
          <a:p/>
          <a:p>
            <a:r>
              <a:t>• Where the drafts go: post both in the team's Teams channel, due by the start of next session. The PRD is the first of six weekly AEL documents; the site lists them.</a:t>
            </a:r>
          </a:p>
          <a:p>
            <a:r>
              <a:t>• The individual portfolio: one document per student, added to every week, 30 % of each mark; the interview carries the other 70 %. Say the four standard questions. Week 1's entry is shorter: what you contributed, what your role did first, and what you do not understand yet. Half a page.</a:t>
            </a:r>
          </a:p>
          <a:p>
            <a:r>
              <a:t>• Two things the instrument lives or dies on: write it the same week, not at the end; and an honest small contribution scores better than an unsupportable large one, because the interview tests the claim.</a:t>
            </a:r>
          </a:p>
          <a:p>
            <a:r>
              <a:t>• The two weekly gates are still not scored. Say it explicitly; students will assume otherwise now that something weekly carries a mark.</a:t>
            </a:r>
          </a:p>
          <a:p/>
          <a:p>
            <a:r>
              <a:t>Next week is decided from what we saw today, partly from the "what I do not understand yet" answers.</a:t>
            </a:r>
          </a:p>
          <a:p/>
          <a:p>
            <a:r>
              <a:t>After class: write the first decision-log entry, and read the portfolio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AI IN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</a:rPr>
              <a:t>AI adoption by European SMEs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Week 1: welcome, discussion, and the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COURSE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Two modules, one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AEL — tech.</a:t>
            </a:r>
            <a:r>
              <a:rPr sz="1800">
                <a:solidFill>
                  <a:srgbClr val="111827"/>
                </a:solidFill>
              </a:rPr>
              <a:t> Led by Witek ten Hove. Builds the tool.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AIBS — research.</a:t>
            </a:r>
            <a:r>
              <a:rPr sz="1800">
                <a:solidFill>
                  <a:srgbClr val="111827"/>
                </a:solidFill>
              </a:rPr>
              <a:t> Led by Meike Botterweg. Decides what the tool’s output must achieve, and judges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One research problem.</a:t>
            </a:r>
            <a:r>
              <a:rPr sz="1800">
                <a:solidFill>
                  <a:srgbClr val="111827"/>
                </a:solidFill>
              </a:rPr>
              <a:t> What do European SMEs need to implement AI in their business?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COURSE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How this module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One pipeline, two modules.</a:t>
            </a:r>
            <a:r>
              <a:rPr sz="1800">
                <a:solidFill>
                  <a:srgbClr val="111827"/>
                </a:solidFill>
              </a:rPr>
              <a:t> AEL builds the tool. AIBS decides what its output must achieve, and judges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Teams of four, both modules.</a:t>
            </a:r>
            <a:r>
              <a:rPr sz="1800">
                <a:solidFill>
                  <a:srgbClr val="111827"/>
                </a:solidFill>
              </a:rPr>
              <a:t> Every team works together on the AEL and AIBS assignments; each student also holds one AEL build role.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The goal:</a:t>
            </a:r>
            <a:r>
              <a:rPr sz="1800">
                <a:solidFill>
                  <a:srgbClr val="111827"/>
                </a:solidFill>
              </a:rPr>
              <a:t> a Handbook about the state of AI, aimed at SMEs — what a regional owner needs to know and decide.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The rhythm:</a:t>
            </a:r>
            <a:r>
              <a:rPr sz="1800">
                <a:solidFill>
                  <a:srgbClr val="111827"/>
                </a:solidFill>
              </a:rPr>
              <a:t> one new published page per team, per week.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The scope:</a:t>
            </a:r>
            <a:r>
              <a:rPr sz="1800">
                <a:solidFill>
                  <a:srgbClr val="111827"/>
                </a:solidFill>
              </a:rPr>
              <a:t> 6 weeks of classes, then one combined assessment for both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COURSE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We're running this week by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FIXED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The end goal — the Handbook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6 weeks + assessment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Teams of four, one build role each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One page per team per week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Two informational gates: Socratic + peer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Final: consolidated handbook + joint 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DECIDED AS WE GO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How much scaffolding each assignment needs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The exact sub-theme and depth per week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Whether the field visit runs weeks 2–4 as planned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How far we get through the provisional week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COURSE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Today's session (about 4 hours)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Welcome</a:t>
            </a:r>
            <a:r>
              <a:rPr sz="1800">
                <a:solidFill>
                  <a:srgbClr val="111827"/>
                </a:solidFill>
              </a:rPr>
              <a:t> — how the module runs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Discussion 1</a:t>
            </a:r>
            <a:r>
              <a:rPr sz="1800">
                <a:solidFill>
                  <a:srgbClr val="111827"/>
                </a:solidFill>
              </a:rPr>
              <a:t> — your experience with 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Discussion 2</a:t>
            </a:r>
            <a:r>
              <a:rPr sz="1800">
                <a:solidFill>
                  <a:srgbClr val="111827"/>
                </a:solidFill>
              </a:rPr>
              <a:t> — the Draghi report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Break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Team formation</a:t>
            </a:r>
            <a:r>
              <a:rPr sz="1800">
                <a:solidFill>
                  <a:srgbClr val="111827"/>
                </a:solidFill>
              </a:rPr>
              <a:t> — teams of four, one build role each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Assignments</a:t>
            </a:r>
            <a:r>
              <a:rPr sz="1800">
                <a:solidFill>
                  <a:srgbClr val="111827"/>
                </a:solidFill>
              </a:rPr>
              <a:t> — kick off the PRD and the research proposal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Share-out</a:t>
            </a:r>
            <a:r>
              <a:rPr sz="1800">
                <a:solidFill>
                  <a:srgbClr val="111827"/>
                </a:solidFill>
              </a:rPr>
              <a:t> — one sentence per team: who your handbook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DISCUSSION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Your experience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This is also our diagnostic — it shapes what we do in the coming weeks.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Which AI tools have you actually used, and for what?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Where has it clearly helped you? Where has it failed or misled you?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Confidence check: using AI · building with AI · judging AI output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How will AI change the job market you're about to enter?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What skills will you need — which do you have, which are gaps?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What do you want to be able to do by the end of this minor?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DISCUSSION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The Draghi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What it is.</a:t>
            </a:r>
            <a:r>
              <a:rPr sz="1800">
                <a:solidFill>
                  <a:srgbClr val="111827"/>
                </a:solidFill>
              </a:rPr>
              <a:t> Mario Draghi's report for the European Commission (September 2024) on why the EU is falling behind the US and China.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Core diagnosis.</a:t>
            </a:r>
            <a:r>
              <a:rPr sz="1800">
                <a:solidFill>
                  <a:srgbClr val="111827"/>
                </a:solidFill>
              </a:rPr>
              <a:t> The gap is largely a technology gap — and Europe is slow to diffuse digital tech into existing businesses, especially SMEs.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On AI.</a:t>
            </a:r>
            <a:r>
              <a:rPr sz="1800">
                <a:solidFill>
                  <a:srgbClr val="111827"/>
                </a:solidFill>
              </a:rPr>
              <a:t> Europe won't win only by building frontier models; it has to get AI adopted across its industrial base.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SME barriers.</a:t>
            </a:r>
            <a:r>
              <a:rPr sz="1800">
                <a:solidFill>
                  <a:srgbClr val="111827"/>
                </a:solidFill>
              </a:rPr>
              <a:t> Fragmented single market, regulatory complexity, limited capital access, skills shortages, limited scale.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Why it's our starting point.</a:t>
            </a:r>
            <a:r>
              <a:rPr sz="1800">
                <a:solidFill>
                  <a:srgbClr val="111827"/>
                </a:solidFill>
              </a:rPr>
              <a:t> The Handbook is a small, concrete contribution to exactly that diffusion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DISCUSSION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Guided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Do you recognise the “Europe is behind” framing? Who makes the AI tools you named earlier?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Draghi treats the productivity gap as a tech gap. What would closing it actually take for one local SME?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If you were advising a regional SME tomorrow, what's the first thing they'd need to know about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TEAM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Teams of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Four people, four AEL build roles, one team: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11827"/>
                </a:solidFill>
              </a:rPr>
              <a:t>Product manager</a:t>
            </a:r>
            <a:r>
              <a:rPr sz="2000" b="1">
                <a:solidFill>
                  <a:srgbClr val="111827"/>
                </a:solidFill>
              </a:rPr>
              <a:t> · </a:t>
            </a:r>
            <a:r>
              <a:rPr sz="2000" b="1">
                <a:solidFill>
                  <a:srgbClr val="111827"/>
                </a:solidFill>
              </a:rPr>
              <a:t>Developer</a:t>
            </a:r>
            <a:r>
              <a:rPr sz="2000" b="1">
                <a:solidFill>
                  <a:srgbClr val="111827"/>
                </a:solidFill>
              </a:rPr>
              <a:t> · </a:t>
            </a:r>
            <a:r>
              <a:rPr sz="2000" b="1">
                <a:solidFill>
                  <a:srgbClr val="111827"/>
                </a:solidFill>
              </a:rPr>
              <a:t>Tester</a:t>
            </a:r>
            <a:r>
              <a:rPr sz="2000" b="1">
                <a:solidFill>
                  <a:srgbClr val="111827"/>
                </a:solidFill>
              </a:rPr>
              <a:t> · </a:t>
            </a:r>
            <a:r>
              <a:rPr sz="2000" b="1">
                <a:solidFill>
                  <a:srgbClr val="111827"/>
                </a:solidFill>
              </a:rPr>
              <a:t>Deployer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Everyone also researches in AIBS — same people build and research.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Sanity check: four people, four roles, at least one willing to drive the CLI — the command line used to direct the AI coding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AEL — Product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Problem and users.</a:t>
            </a:r>
            <a:r>
              <a:rPr sz="1800">
                <a:solidFill>
                  <a:srgbClr val="111827"/>
                </a:solidFill>
              </a:rPr>
              <a:t> What the platform is for, and who uses it — your research team, and, downstream, the SME owner.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What it must let a user do.</a:t>
            </a:r>
            <a:r>
              <a:rPr sz="1800">
                <a:solidFill>
                  <a:srgbClr val="111827"/>
                </a:solidFill>
              </a:rPr>
              <a:t> The path from raw source material to a published handbook page.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Output qualities.</a:t>
            </a:r>
            <a:r>
              <a:rPr sz="1800">
                <a:solidFill>
                  <a:srgbClr val="111827"/>
                </a:solidFill>
              </a:rPr>
              <a:t> What a good handbook page produced by the platform looks like.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Known constraints.</a:t>
            </a:r>
            <a:r>
              <a:rPr sz="1800">
                <a:solidFill>
                  <a:srgbClr val="111827"/>
                </a:solidFill>
              </a:rPr>
              <a:t> You direct an agentic CLI rather than hand-code; reuse existing infrastructure; a non-coder must be able to run it; every step needs a manual fallback.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Out of scope, for now.</a:t>
            </a:r>
            <a:r>
              <a:rPr sz="1800">
                <a:solidFill>
                  <a:srgbClr val="111827"/>
                </a:solidFill>
              </a:rPr>
              <a:t> What you are deliberately not building yet.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Open questions and assumptions.</a:t>
            </a:r>
            <a:r>
              <a:rPr sz="1800">
                <a:solidFill>
                  <a:srgbClr val="111827"/>
                </a:solidFill>
              </a:rPr>
              <a:t> What you're still unsure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AIBS — 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Target audience.</a:t>
            </a:r>
            <a:r>
              <a:rPr sz="1800">
                <a:solidFill>
                  <a:srgbClr val="111827"/>
                </a:solidFill>
              </a:rPr>
              <a:t> Which SMEs is this for? Be specific — sector, size, region. A named partner company is ideal.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What they need.</a:t>
            </a:r>
            <a:r>
              <a:rPr sz="1800">
                <a:solidFill>
                  <a:srgbClr val="111827"/>
                </a:solidFill>
              </a:rPr>
              <a:t> What these SMEs need to know or decide about AI, and why — use the Draghi report and your own reasoning.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Research question.</a:t>
            </a:r>
            <a:r>
              <a:rPr sz="1800">
                <a:solidFill>
                  <a:srgbClr val="111827"/>
                </a:solidFill>
              </a:rPr>
              <a:t> One main question + at least 4 sub-questions — at least 2 on external analysis, at least 2 on internal analysis.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Quality criteria for the handbook.</a:t>
            </a:r>
            <a:r>
              <a:rPr sz="1800">
                <a:solidFill>
                  <a:srgbClr val="111827"/>
                </a:solidFill>
              </a:rPr>
              <a:t> What must it do to be genuinely useful to this audience?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Methodology.</a:t>
            </a:r>
            <a:r>
              <a:rPr sz="1800">
                <a:solidFill>
                  <a:srgbClr val="111827"/>
                </a:solidFill>
              </a:rPr>
              <a:t> Desk research + field research — one SME visit, weeks 2–4. Which questions does each method serve?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1–3 pages each. This is a starting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PRD, the bar:</a:t>
            </a:r>
            <a:r>
              <a:rPr sz="1800">
                <a:solidFill>
                  <a:srgbClr val="111827"/>
                </a:solidFill>
              </a:rPr>
              <a:t> a reader can tell what you're building, for whom, and how you'll know it works.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Research proposal, the bar:</a:t>
            </a:r>
            <a:r>
              <a:rPr sz="1800">
                <a:solidFill>
                  <a:srgbClr val="111827"/>
                </a:solidFill>
              </a:rPr>
              <a:t> a reader can tell who the handbook serves, what it must answer, and how you'll judge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Push for a concrete target SME — sector, size, region — as early as possible.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You'll revise both as you learn more. Nothing here is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Share-out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Each team, one sentence: who is our handbook for?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>
                <a:solidFill>
                  <a:srgbClr val="111827"/>
                </a:solidFill>
              </a:rPr>
              <a:t>Each team, one sentence: what's an open question we're stuck on?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Next week is decided from what we see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