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of Monday 12 October, the last of six. Interviews with the firms are still running for some teams, so avoid calling anything "the interview" without saying which one. The next stop is the final assessment: the hand-in on Sunday 25 October and the final CBI on Monday 26 October.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Start warm, with what the firms said. Then the AEL lecturer. Then the practical part: what goes where and when. Close with the discussion, which is the fun part and the first rehearsal for guiding question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the teams that have held their interview with the firm to share. Two minutes each, three prompts on the card. Teams without an interview yet: listen for what they can still ask, or use for their plan B. Keep it positive; where fieldwork is still behind, the point is what each team can still do in two weeks.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consequences of the interview. The results go into the handbook pages, which teams may keep improving until the hand-in on 25 October. The transcript goes into each student's portfolio. Consent and the rules on interview material still apply: the transcript goes to HandIn, not into the public repo and not into the LLM wiki.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AEL slot: a peer review of the LLM wikis, then one improvement built. Pair the teams. Each pair opens both wikis and compares them: what they hold, how they are organised, how well they answer a question. Each team then chooses its next improvement. It can come from what they saw in the other wiki, from the conversation, or from an idea they already had and tested on the other team. Then half an hour to build it. Teams that kept a different knowledge architecture compare that instead. Remind them that the change is a decision and goes in the decision 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timeline. Three dates, nothing else. The hand-in deadline is Sunday 25 October at 23:59.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uploads on HandIn, by every student. HandIn still carries the old module names: the video goes under Data Mining, the portfolio under Business Intelligence. The video is one per team, and each member uploads the same file or a link to it. Full details: the final interview page, section "Before the interview".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portfolio: the team's four handbook pages, the interview transcript, and a link to the team's GitHub repository. The video does not go in the portfolio again, but the repo should link to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Every student is questioned individually. If the portfolio says you did something, expect to be asked how.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26 October: 20 minutes per team, both lecturers, in English. About five minutes of pitch, the rest is questions to each student in turn. Slots are on the final interview page; no sign-up; be there five minutes early.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guiding questions, one line each. Prepare all four. The full wording is on the final interview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grades, one per module. Each is 70 % final CBI and 30 % portfolio. The mini-CBI in week 4 was diagnostic and did not count.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No late hand-in is possible: the lecturers start watching the videos on Monday morning at nine.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last week's in-class assignment: front-runner AI use cases in each team's sector, in one of three regions. The postcards from 2035 became homework: each team posted its postcard in its Teams channel or GitHub repo before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team pitches its postcard and its strongest case in about two minutes, using the five questions from the assignment. Group the pitches by region so the differences show. This is the starting point of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cases to the choices: how do the choices we make now shape the economy, and the AI-powered jobs in it? Suggested format: agree on one side of the room, disagree on the other; one student per side gives a reason from their case; anyone may switch sides after hearing the other.</a:t>
            </a:r>
          </a:p>
          <a:p/>
          <a:p>
            <a:r>
              <a:t>Ten statements follow (s17–s26). Pick the ones that fit the room; there is no need to do all ten.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Statement: AI will make small firms stronger against big companies.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Statement: Europe should accept slower AI adoption in exchange for stronger rules.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Statement: by 2035, most SMEs will employ fewer people because of AI.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Statement: whoever owns the AI models will own the profits of the economy.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Statement: depending on American or Chinese AI is fine for a Dutch SME.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Statement: time saved by AI should become a shorter working week.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Statement: AI hits entry-level jobs first, so your first job gets harder.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Statement: governments, not markets, should decide where AI may replace workers.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Statement: an SME that does not use AI by 2030 will not survive.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Statement: AI makes work more human, with machines taking the routine and people the rest.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rulebook. Rules 1 to 3 from weeks 1 to 3; rule 4 from week 4, "Technology is not the barrier"; rule 5 from week 5, know your known and unknown knowns and unknowns. Rule 6 is added together in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See you on 26 October.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adrivendecisions.github.io/ai-in-business/final-cbi.html#slots"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adrivendecisions.github.io/ai-in-business/final-cbi.html#questions"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AI IN BUSINESS</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 / 28</a:t>
            </a:r>
          </a:p>
        </p:txBody>
      </p:sp>
      <p:sp>
        <p:nvSpPr>
          <p:cNvPr id="5" name="TextBox 4"/>
          <p:cNvSpPr txBox="1"/>
          <p:nvPr/>
        </p:nvSpPr>
        <p:spPr>
          <a:xfrm>
            <a:off x="731520" y="2194560"/>
            <a:ext cx="10698480" cy="1188720"/>
          </a:xfrm>
          <a:prstGeom prst="rect">
            <a:avLst/>
          </a:prstGeom>
          <a:noFill/>
        </p:spPr>
        <p:txBody>
          <a:bodyPr wrap="square">
            <a:spAutoFit/>
          </a:bodyPr>
          <a:lstStyle/>
          <a:p>
            <a:r>
              <a:rPr sz="4400" b="1">
                <a:solidFill>
                  <a:srgbClr val="111827"/>
                </a:solidFill>
              </a:rPr>
              <a:t>Last session. Next stop: the final assessment</a:t>
            </a:r>
          </a:p>
        </p:txBody>
      </p:sp>
      <p:sp>
        <p:nvSpPr>
          <p:cNvPr id="6" name="TextBox 5"/>
          <p:cNvSpPr txBox="1"/>
          <p:nvPr/>
        </p:nvSpPr>
        <p:spPr>
          <a:xfrm>
            <a:off x="731520" y="3474720"/>
            <a:ext cx="10698480" cy="2560320"/>
          </a:xfrm>
          <a:prstGeom prst="rect">
            <a:avLst/>
          </a:prstGeom>
          <a:noFill/>
        </p:spPr>
        <p:txBody>
          <a:bodyPr wrap="square">
            <a:spAutoFit/>
          </a:bodyPr>
          <a:lstStyle/>
          <a:p>
            <a:pPr>
              <a:spcAft>
                <a:spcPts val="800"/>
              </a:spcAft>
            </a:pPr>
            <a:r>
              <a:rPr sz="2200">
                <a:solidFill>
                  <a:srgbClr val="4B5563"/>
                </a:solidFill>
              </a:rPr>
              <a:t>Week 6.</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TODAY</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Four things, then you are ready for the final round</a:t>
            </a:r>
          </a:p>
        </p:txBody>
      </p:sp>
      <p:sp>
        <p:nvSpPr>
          <p:cNvPr id="6" name="TextBox 5"/>
          <p:cNvSpPr txBox="1"/>
          <p:nvPr/>
        </p:nvSpPr>
        <p:spPr>
          <a:xfrm>
            <a:off x="731520" y="2103120"/>
            <a:ext cx="2331720" cy="3931920"/>
          </a:xfrm>
          <a:prstGeom prst="rect">
            <a:avLst/>
          </a:prstGeom>
          <a:noFill/>
        </p:spPr>
        <p:txBody>
          <a:bodyPr wrap="square">
            <a:spAutoFit/>
          </a:bodyPr>
          <a:lstStyle/>
          <a:p>
            <a:pPr>
              <a:spcAft>
                <a:spcPts val="800"/>
              </a:spcAft>
            </a:pPr>
            <a:r>
              <a:rPr sz="1100" b="1">
                <a:solidFill>
                  <a:srgbClr val="4B5563"/>
                </a:solidFill>
              </a:rPr>
              <a:t>YOUR INTERVIEWS</a:t>
            </a:r>
          </a:p>
          <a:p>
            <a:pPr>
              <a:spcAft>
                <a:spcPts val="800"/>
              </a:spcAft>
            </a:pPr>
            <a:r>
              <a:rPr sz="1800">
                <a:solidFill>
                  <a:srgbClr val="111827"/>
                </a:solidFill>
              </a:rPr>
              <a:t>What the firms told you</a:t>
            </a:r>
          </a:p>
        </p:txBody>
      </p:sp>
      <p:sp>
        <p:nvSpPr>
          <p:cNvPr id="7" name="TextBox 6"/>
          <p:cNvSpPr txBox="1"/>
          <p:nvPr/>
        </p:nvSpPr>
        <p:spPr>
          <a:xfrm>
            <a:off x="3520440" y="2103120"/>
            <a:ext cx="2331720" cy="3931920"/>
          </a:xfrm>
          <a:prstGeom prst="rect">
            <a:avLst/>
          </a:prstGeom>
          <a:noFill/>
        </p:spPr>
        <p:txBody>
          <a:bodyPr wrap="square">
            <a:spAutoFit/>
          </a:bodyPr>
          <a:lstStyle/>
          <a:p>
            <a:pPr>
              <a:spcAft>
                <a:spcPts val="800"/>
              </a:spcAft>
            </a:pPr>
            <a:r>
              <a:rPr sz="1100" b="1">
                <a:solidFill>
                  <a:srgbClr val="4B5563"/>
                </a:solidFill>
              </a:rPr>
              <a:t>AEL</a:t>
            </a:r>
          </a:p>
          <a:p>
            <a:pPr>
              <a:spcAft>
                <a:spcPts val="800"/>
              </a:spcAft>
            </a:pPr>
            <a:r>
              <a:rPr sz="1800">
                <a:solidFill>
                  <a:srgbClr val="111827"/>
                </a:solidFill>
              </a:rPr>
              <a:t>Evaluating the LLM wiki</a:t>
            </a:r>
          </a:p>
        </p:txBody>
      </p:sp>
      <p:sp>
        <p:nvSpPr>
          <p:cNvPr id="8" name="TextBox 7"/>
          <p:cNvSpPr txBox="1"/>
          <p:nvPr/>
        </p:nvSpPr>
        <p:spPr>
          <a:xfrm>
            <a:off x="6309360" y="2103120"/>
            <a:ext cx="2331720" cy="3931920"/>
          </a:xfrm>
          <a:prstGeom prst="rect">
            <a:avLst/>
          </a:prstGeom>
          <a:noFill/>
        </p:spPr>
        <p:txBody>
          <a:bodyPr wrap="square">
            <a:spAutoFit/>
          </a:bodyPr>
          <a:lstStyle/>
          <a:p>
            <a:pPr>
              <a:spcAft>
                <a:spcPts val="800"/>
              </a:spcAft>
            </a:pPr>
            <a:r>
              <a:rPr sz="1100" b="1">
                <a:solidFill>
                  <a:srgbClr val="4B5563"/>
                </a:solidFill>
              </a:rPr>
              <a:t>THE FINAL ASSESSMENT</a:t>
            </a:r>
          </a:p>
          <a:p>
            <a:pPr>
              <a:spcAft>
                <a:spcPts val="800"/>
              </a:spcAft>
            </a:pPr>
            <a:r>
              <a:rPr sz="1800">
                <a:solidFill>
                  <a:srgbClr val="111827"/>
                </a:solidFill>
              </a:rPr>
              <a:t>What, when, where</a:t>
            </a:r>
          </a:p>
        </p:txBody>
      </p:sp>
      <p:sp>
        <p:nvSpPr>
          <p:cNvPr id="9" name="TextBox 8"/>
          <p:cNvSpPr txBox="1"/>
          <p:nvPr/>
        </p:nvSpPr>
        <p:spPr>
          <a:xfrm>
            <a:off x="9098280" y="2103120"/>
            <a:ext cx="2331720" cy="3931920"/>
          </a:xfrm>
          <a:prstGeom prst="rect">
            <a:avLst/>
          </a:prstGeom>
          <a:noFill/>
        </p:spPr>
        <p:txBody>
          <a:bodyPr wrap="square">
            <a:spAutoFit/>
          </a:bodyPr>
          <a:lstStyle/>
          <a:p>
            <a:pPr>
              <a:spcAft>
                <a:spcPts val="800"/>
              </a:spcAft>
            </a:pPr>
            <a:r>
              <a:rPr sz="1100" b="1">
                <a:solidFill>
                  <a:srgbClr val="4B5563"/>
                </a:solidFill>
              </a:rPr>
              <a:t>THE ECONOMY WE BUILD</a:t>
            </a:r>
          </a:p>
          <a:p>
            <a:pPr>
              <a:spcAft>
                <a:spcPts val="800"/>
              </a:spcAft>
            </a:pPr>
            <a:r>
              <a:rPr sz="1800">
                <a:solidFill>
                  <a:srgbClr val="111827"/>
                </a:solidFill>
              </a:rPr>
              <a:t>Your postcards, then statements</a:t>
            </a:r>
          </a:p>
        </p:txBody>
      </p:sp>
      <p:sp>
        <p:nvSpPr>
          <p:cNvPr id="10" name="TextBox 9"/>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YOUR FIELD INTERVIEWS</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3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What did the firm tell you that no source could?</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Teams with an interview behind them: </a:t>
            </a:r>
            <a:r>
              <a:rPr sz="1800" b="1">
                <a:solidFill>
                  <a:srgbClr val="111827"/>
                </a:solidFill>
              </a:rPr>
              <a:t>two minutes</a:t>
            </a:r>
            <a:r>
              <a:rPr sz="1800">
                <a:solidFill>
                  <a:srgbClr val="111827"/>
                </a:solidFill>
              </a:rPr>
              <a:t> each.</a:t>
            </a:r>
          </a:p>
          <a:p>
            <a:pPr>
              <a:spcAft>
                <a:spcPts val="800"/>
              </a:spcAft>
            </a:pPr>
            <a:r>
              <a:rPr sz="1800">
                <a:solidFill>
                  <a:srgbClr val="111827"/>
                </a:solidFill>
              </a:rPr>
              <a:t>One surprise · one thing you will use · one question still open</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FROM INTERVIEW TO PAGE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4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Interview results go into your pages; the transcript into your portfolio</a:t>
            </a:r>
          </a:p>
        </p:txBody>
      </p:sp>
      <p:sp>
        <p:nvSpPr>
          <p:cNvPr id="6" name="TextBox 5"/>
          <p:cNvSpPr txBox="1"/>
          <p:nvPr/>
        </p:nvSpPr>
        <p:spPr>
          <a:xfrm>
            <a:off x="731520" y="2103120"/>
            <a:ext cx="5120640" cy="3931920"/>
          </a:xfrm>
          <a:prstGeom prst="rect">
            <a:avLst/>
          </a:prstGeom>
          <a:noFill/>
        </p:spPr>
        <p:txBody>
          <a:bodyPr wrap="square">
            <a:spAutoFit/>
          </a:bodyPr>
          <a:lstStyle/>
          <a:p>
            <a:pPr>
              <a:spcAft>
                <a:spcPts val="800"/>
              </a:spcAft>
            </a:pPr>
            <a:r>
              <a:rPr sz="1100" b="1">
                <a:solidFill>
                  <a:srgbClr val="4B5563"/>
                </a:solidFill>
              </a:rPr>
              <a:t>YOUR HANDBOOK PAGES</a:t>
            </a:r>
          </a:p>
          <a:p>
            <a:pPr>
              <a:spcAft>
                <a:spcPts val="800"/>
              </a:spcAft>
            </a:pPr>
            <a:r>
              <a:rPr sz="1800">
                <a:solidFill>
                  <a:srgbClr val="111827"/>
                </a:solidFill>
              </a:rPr>
              <a:t>Weave in what you heard. Keep improving until </a:t>
            </a:r>
            <a:r>
              <a:rPr sz="1800" b="1">
                <a:solidFill>
                  <a:srgbClr val="111827"/>
                </a:solidFill>
              </a:rPr>
              <a:t>25 October</a:t>
            </a:r>
            <a:r>
              <a:rPr sz="1800">
                <a:solidFill>
                  <a:srgbClr val="111827"/>
                </a:solidFill>
              </a:rPr>
              <a:t>.</a:t>
            </a:r>
          </a:p>
        </p:txBody>
      </p:sp>
      <p:sp>
        <p:nvSpPr>
          <p:cNvPr id="7" name="TextBox 6"/>
          <p:cNvSpPr txBox="1"/>
          <p:nvPr/>
        </p:nvSpPr>
        <p:spPr>
          <a:xfrm>
            <a:off x="6309360" y="2103120"/>
            <a:ext cx="5120640" cy="3931920"/>
          </a:xfrm>
          <a:prstGeom prst="rect">
            <a:avLst/>
          </a:prstGeom>
          <a:noFill/>
        </p:spPr>
        <p:txBody>
          <a:bodyPr wrap="square">
            <a:spAutoFit/>
          </a:bodyPr>
          <a:lstStyle/>
          <a:p>
            <a:pPr>
              <a:spcAft>
                <a:spcPts val="800"/>
              </a:spcAft>
            </a:pPr>
            <a:r>
              <a:rPr sz="1100" b="1">
                <a:solidFill>
                  <a:srgbClr val="4B5563"/>
                </a:solidFill>
              </a:rPr>
              <a:t>YOUR PORTFOLIO</a:t>
            </a:r>
          </a:p>
          <a:p>
            <a:pPr>
              <a:spcAft>
                <a:spcPts val="800"/>
              </a:spcAft>
            </a:pPr>
            <a:r>
              <a:rPr sz="1800">
                <a:solidFill>
                  <a:srgbClr val="111827"/>
                </a:solidFill>
              </a:rPr>
              <a:t>The </a:t>
            </a:r>
            <a:r>
              <a:rPr sz="1800" b="1">
                <a:solidFill>
                  <a:srgbClr val="111827"/>
                </a:solidFill>
              </a:rPr>
              <a:t>transcript</a:t>
            </a:r>
            <a:r>
              <a:rPr sz="1800">
                <a:solidFill>
                  <a:srgbClr val="111827"/>
                </a:solidFill>
              </a:rPr>
              <a:t> of the interview.</a:t>
            </a:r>
          </a:p>
        </p:txBody>
      </p:sp>
      <p:sp>
        <p:nvSpPr>
          <p:cNvPr id="8" name="TextBox 7"/>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AEL</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5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Compare wikis with a peer team, then build your next improvement</a:t>
            </a:r>
          </a:p>
        </p:txBody>
      </p:sp>
      <p:sp>
        <p:nvSpPr>
          <p:cNvPr id="6" name="TextBox 5"/>
          <p:cNvSpPr txBox="1"/>
          <p:nvPr/>
        </p:nvSpPr>
        <p:spPr>
          <a:xfrm>
            <a:off x="731520" y="2103120"/>
            <a:ext cx="3261360" cy="3931920"/>
          </a:xfrm>
          <a:prstGeom prst="rect">
            <a:avLst/>
          </a:prstGeom>
          <a:noFill/>
        </p:spPr>
        <p:txBody>
          <a:bodyPr wrap="square">
            <a:spAutoFit/>
          </a:bodyPr>
          <a:lstStyle/>
          <a:p>
            <a:pPr>
              <a:spcAft>
                <a:spcPts val="800"/>
              </a:spcAft>
            </a:pPr>
            <a:r>
              <a:rPr sz="1100" b="1">
                <a:solidFill>
                  <a:srgbClr val="4B5563"/>
                </a:solidFill>
              </a:rPr>
              <a:t>COMPARE</a:t>
            </a:r>
          </a:p>
          <a:p>
            <a:pPr>
              <a:spcAft>
                <a:spcPts val="800"/>
              </a:spcAft>
            </a:pPr>
            <a:r>
              <a:rPr sz="1800">
                <a:solidFill>
                  <a:srgbClr val="111827"/>
                </a:solidFill>
              </a:rPr>
              <a:t>Open each other's wiki</a:t>
            </a:r>
          </a:p>
        </p:txBody>
      </p:sp>
      <p:sp>
        <p:nvSpPr>
          <p:cNvPr id="7" name="TextBox 6"/>
          <p:cNvSpPr txBox="1"/>
          <p:nvPr/>
        </p:nvSpPr>
        <p:spPr>
          <a:xfrm>
            <a:off x="4450080" y="2103120"/>
            <a:ext cx="3261360" cy="3931920"/>
          </a:xfrm>
          <a:prstGeom prst="rect">
            <a:avLst/>
          </a:prstGeom>
          <a:noFill/>
        </p:spPr>
        <p:txBody>
          <a:bodyPr wrap="square">
            <a:spAutoFit/>
          </a:bodyPr>
          <a:lstStyle/>
          <a:p>
            <a:pPr>
              <a:spcAft>
                <a:spcPts val="800"/>
              </a:spcAft>
            </a:pPr>
            <a:r>
              <a:rPr sz="1100" b="1">
                <a:solidFill>
                  <a:srgbClr val="4B5563"/>
                </a:solidFill>
              </a:rPr>
              <a:t>CHOOSE</a:t>
            </a:r>
          </a:p>
          <a:p>
            <a:pPr>
              <a:spcAft>
                <a:spcPts val="800"/>
              </a:spcAft>
            </a:pPr>
            <a:r>
              <a:rPr sz="1800">
                <a:solidFill>
                  <a:srgbClr val="111827"/>
                </a:solidFill>
              </a:rPr>
              <a:t>One next improvement: seen, discussed, or your own idea tested on them</a:t>
            </a:r>
          </a:p>
        </p:txBody>
      </p:sp>
      <p:sp>
        <p:nvSpPr>
          <p:cNvPr id="8" name="TextBox 7"/>
          <p:cNvSpPr txBox="1"/>
          <p:nvPr/>
        </p:nvSpPr>
        <p:spPr>
          <a:xfrm>
            <a:off x="8168640" y="2103120"/>
            <a:ext cx="3261360" cy="3931920"/>
          </a:xfrm>
          <a:prstGeom prst="rect">
            <a:avLst/>
          </a:prstGeom>
          <a:noFill/>
        </p:spPr>
        <p:txBody>
          <a:bodyPr wrap="square">
            <a:spAutoFit/>
          </a:bodyPr>
          <a:lstStyle/>
          <a:p>
            <a:pPr>
              <a:spcAft>
                <a:spcPts val="800"/>
              </a:spcAft>
            </a:pPr>
            <a:r>
              <a:rPr sz="1100" b="1">
                <a:solidFill>
                  <a:srgbClr val="4B5563"/>
                </a:solidFill>
              </a:rPr>
              <a:t>BUILD</a:t>
            </a:r>
          </a:p>
          <a:p>
            <a:pPr>
              <a:spcAft>
                <a:spcPts val="800"/>
              </a:spcAft>
            </a:pPr>
            <a:r>
              <a:rPr sz="1800" b="1">
                <a:solidFill>
                  <a:srgbClr val="111827"/>
                </a:solidFill>
              </a:rPr>
              <a:t>30 minutes</a:t>
            </a:r>
          </a:p>
        </p:txBody>
      </p:sp>
      <p:sp>
        <p:nvSpPr>
          <p:cNvPr id="9" name="TextBox 8"/>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THE FINAL ASSESSMENT</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6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Two weeks to go: hand in on Sunday, the CBI on Monday</a:t>
            </a:r>
          </a:p>
        </p:txBody>
      </p:sp>
      <p:sp>
        <p:nvSpPr>
          <p:cNvPr id="6" name="TextBox 5"/>
          <p:cNvSpPr txBox="1"/>
          <p:nvPr/>
        </p:nvSpPr>
        <p:spPr>
          <a:xfrm>
            <a:off x="731520" y="2103120"/>
            <a:ext cx="3261360" cy="3931920"/>
          </a:xfrm>
          <a:prstGeom prst="rect">
            <a:avLst/>
          </a:prstGeom>
          <a:noFill/>
        </p:spPr>
        <p:txBody>
          <a:bodyPr wrap="square">
            <a:spAutoFit/>
          </a:bodyPr>
          <a:lstStyle/>
          <a:p>
            <a:pPr>
              <a:spcAft>
                <a:spcPts val="800"/>
              </a:spcAft>
            </a:pPr>
            <a:r>
              <a:rPr sz="1100" b="1">
                <a:solidFill>
                  <a:srgbClr val="4B5563"/>
                </a:solidFill>
              </a:rPr>
              <a:t>MON 12 OCT</a:t>
            </a:r>
          </a:p>
          <a:p>
            <a:pPr>
              <a:spcAft>
                <a:spcPts val="800"/>
              </a:spcAft>
            </a:pPr>
            <a:r>
              <a:rPr sz="1800">
                <a:solidFill>
                  <a:srgbClr val="111827"/>
                </a:solidFill>
              </a:rPr>
              <a:t>Last session</a:t>
            </a:r>
          </a:p>
        </p:txBody>
      </p:sp>
      <p:sp>
        <p:nvSpPr>
          <p:cNvPr id="7" name="TextBox 6"/>
          <p:cNvSpPr txBox="1"/>
          <p:nvPr/>
        </p:nvSpPr>
        <p:spPr>
          <a:xfrm>
            <a:off x="4450080" y="2103120"/>
            <a:ext cx="3261360" cy="3931920"/>
          </a:xfrm>
          <a:prstGeom prst="rect">
            <a:avLst/>
          </a:prstGeom>
          <a:noFill/>
        </p:spPr>
        <p:txBody>
          <a:bodyPr wrap="square">
            <a:spAutoFit/>
          </a:bodyPr>
          <a:lstStyle/>
          <a:p>
            <a:pPr>
              <a:spcAft>
                <a:spcPts val="800"/>
              </a:spcAft>
            </a:pPr>
            <a:r>
              <a:rPr sz="1100" b="1">
                <a:solidFill>
                  <a:srgbClr val="4B5563"/>
                </a:solidFill>
              </a:rPr>
              <a:t>SUN 25 OCT, 23:59</a:t>
            </a:r>
          </a:p>
          <a:p>
            <a:pPr>
              <a:spcAft>
                <a:spcPts val="800"/>
              </a:spcAft>
            </a:pPr>
            <a:r>
              <a:rPr sz="1800">
                <a:solidFill>
                  <a:srgbClr val="111827"/>
                </a:solidFill>
              </a:rPr>
              <a:t>Hand in</a:t>
            </a:r>
          </a:p>
        </p:txBody>
      </p:sp>
      <p:sp>
        <p:nvSpPr>
          <p:cNvPr id="8" name="TextBox 7"/>
          <p:cNvSpPr txBox="1"/>
          <p:nvPr/>
        </p:nvSpPr>
        <p:spPr>
          <a:xfrm>
            <a:off x="8168640" y="2103120"/>
            <a:ext cx="3261360" cy="3931920"/>
          </a:xfrm>
          <a:prstGeom prst="rect">
            <a:avLst/>
          </a:prstGeom>
          <a:noFill/>
        </p:spPr>
        <p:txBody>
          <a:bodyPr wrap="square">
            <a:spAutoFit/>
          </a:bodyPr>
          <a:lstStyle/>
          <a:p>
            <a:pPr>
              <a:spcAft>
                <a:spcPts val="800"/>
              </a:spcAft>
            </a:pPr>
            <a:r>
              <a:rPr sz="1100" b="1">
                <a:solidFill>
                  <a:srgbClr val="4B5563"/>
                </a:solidFill>
              </a:rPr>
              <a:t>MON 26 OCT</a:t>
            </a:r>
          </a:p>
          <a:p>
            <a:pPr>
              <a:spcAft>
                <a:spcPts val="800"/>
              </a:spcAft>
            </a:pPr>
            <a:r>
              <a:rPr sz="1800">
                <a:solidFill>
                  <a:srgbClr val="111827"/>
                </a:solidFill>
              </a:rPr>
              <a:t>The final CBI</a:t>
            </a:r>
          </a:p>
        </p:txBody>
      </p:sp>
      <p:sp>
        <p:nvSpPr>
          <p:cNvPr id="9" name="TextBox 8"/>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THE FINAL ASSESSMENT</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7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Each of you uploads two things to HandIn</a:t>
            </a:r>
          </a:p>
        </p:txBody>
      </p:sp>
      <p:sp>
        <p:nvSpPr>
          <p:cNvPr id="6" name="TextBox 5"/>
          <p:cNvSpPr txBox="1"/>
          <p:nvPr/>
        </p:nvSpPr>
        <p:spPr>
          <a:xfrm>
            <a:off x="731520" y="2103120"/>
            <a:ext cx="5120640" cy="3931920"/>
          </a:xfrm>
          <a:prstGeom prst="rect">
            <a:avLst/>
          </a:prstGeom>
          <a:noFill/>
        </p:spPr>
        <p:txBody>
          <a:bodyPr wrap="square">
            <a:spAutoFit/>
          </a:bodyPr>
          <a:lstStyle/>
          <a:p>
            <a:pPr>
              <a:spcAft>
                <a:spcPts val="800"/>
              </a:spcAft>
            </a:pPr>
            <a:r>
              <a:rPr sz="1100" b="1">
                <a:solidFill>
                  <a:srgbClr val="4B5563"/>
                </a:solidFill>
              </a:rPr>
              <a:t>DATA MINING</a:t>
            </a:r>
          </a:p>
          <a:p>
            <a:pPr>
              <a:spcAft>
                <a:spcPts val="800"/>
              </a:spcAft>
            </a:pPr>
            <a:r>
              <a:rPr sz="1800">
                <a:solidFill>
                  <a:srgbClr val="111827"/>
                </a:solidFill>
              </a:rPr>
              <a:t>The </a:t>
            </a:r>
            <a:r>
              <a:rPr sz="1800" b="1">
                <a:solidFill>
                  <a:srgbClr val="111827"/>
                </a:solidFill>
              </a:rPr>
              <a:t>demo video</a:t>
            </a:r>
            <a:r>
              <a:rPr sz="1800">
                <a:solidFill>
                  <a:srgbClr val="111827"/>
                </a:solidFill>
              </a:rPr>
              <a:t>: five minutes, the same for the whole team. A file or a link.</a:t>
            </a:r>
          </a:p>
        </p:txBody>
      </p:sp>
      <p:sp>
        <p:nvSpPr>
          <p:cNvPr id="7" name="TextBox 6"/>
          <p:cNvSpPr txBox="1"/>
          <p:nvPr/>
        </p:nvSpPr>
        <p:spPr>
          <a:xfrm>
            <a:off x="6309360" y="2103120"/>
            <a:ext cx="5120640" cy="3931920"/>
          </a:xfrm>
          <a:prstGeom prst="rect">
            <a:avLst/>
          </a:prstGeom>
          <a:noFill/>
        </p:spPr>
        <p:txBody>
          <a:bodyPr wrap="square">
            <a:spAutoFit/>
          </a:bodyPr>
          <a:lstStyle/>
          <a:p>
            <a:pPr>
              <a:spcAft>
                <a:spcPts val="800"/>
              </a:spcAft>
            </a:pPr>
            <a:r>
              <a:rPr sz="1100" b="1">
                <a:solidFill>
                  <a:srgbClr val="4B5563"/>
                </a:solidFill>
              </a:rPr>
              <a:t>BUSINESS INTELLIGENCE</a:t>
            </a:r>
          </a:p>
          <a:p>
            <a:pPr>
              <a:spcAft>
                <a:spcPts val="800"/>
              </a:spcAft>
            </a:pPr>
            <a:r>
              <a:rPr sz="1800">
                <a:solidFill>
                  <a:srgbClr val="111827"/>
                </a:solidFill>
              </a:rPr>
              <a:t>Your </a:t>
            </a:r>
            <a:r>
              <a:rPr sz="1800" b="1">
                <a:solidFill>
                  <a:srgbClr val="111827"/>
                </a:solidFill>
              </a:rPr>
              <a:t>portfolio</a:t>
            </a:r>
            <a:r>
              <a:rPr sz="1800">
                <a:solidFill>
                  <a:srgbClr val="111827"/>
                </a:solidFill>
              </a:rPr>
              <a:t>.</a:t>
            </a:r>
          </a:p>
          <a:p>
            <a:pPr>
              <a:spcAft>
                <a:spcPts val="800"/>
              </a:spcAft>
            </a:pPr>
            <a:r>
              <a:rPr sz="1800">
                <a:solidFill>
                  <a:srgbClr val="111827"/>
                </a:solidFill>
              </a:rPr>
              <a:t>Old module names, right places.</a:t>
            </a:r>
          </a:p>
        </p:txBody>
      </p:sp>
      <p:sp>
        <p:nvSpPr>
          <p:cNvPr id="8" name="TextBox 7"/>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THE FINAL ASSESSMENT</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8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Your portfolio holds three things</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a:solidFill>
                  <a:srgbClr val="111827"/>
                </a:solidFill>
              </a:rPr>
              <a:t>Your team’s </a:t>
            </a:r>
            <a:r>
              <a:rPr sz="1800" b="1">
                <a:solidFill>
                  <a:srgbClr val="111827"/>
                </a:solidFill>
              </a:rPr>
              <a:t>four handbook pages</a:t>
            </a:r>
          </a:p>
          <a:p>
            <a:pPr>
              <a:spcAft>
                <a:spcPts val="800"/>
              </a:spcAft>
            </a:pPr>
            <a:r>
              <a:rPr sz="1800">
                <a:solidFill>
                  <a:srgbClr val="111827"/>
                </a:solidFill>
              </a:rPr>
              <a:t>•  </a:t>
            </a:r>
            <a:r>
              <a:rPr sz="1800">
                <a:solidFill>
                  <a:srgbClr val="111827"/>
                </a:solidFill>
              </a:rPr>
              <a:t>The </a:t>
            </a:r>
            <a:r>
              <a:rPr sz="1800" b="1">
                <a:solidFill>
                  <a:srgbClr val="111827"/>
                </a:solidFill>
              </a:rPr>
              <a:t>transcript</a:t>
            </a:r>
            <a:r>
              <a:rPr sz="1800">
                <a:solidFill>
                  <a:srgbClr val="111827"/>
                </a:solidFill>
              </a:rPr>
              <a:t> of your interview</a:t>
            </a:r>
          </a:p>
          <a:p>
            <a:pPr>
              <a:spcAft>
                <a:spcPts val="800"/>
              </a:spcAft>
            </a:pPr>
            <a:r>
              <a:rPr sz="1800">
                <a:solidFill>
                  <a:srgbClr val="111827"/>
                </a:solidFill>
              </a:rPr>
              <a:t>•  </a:t>
            </a:r>
            <a:r>
              <a:rPr sz="1800">
                <a:solidFill>
                  <a:srgbClr val="111827"/>
                </a:solidFill>
              </a:rPr>
              <a:t>A link to your </a:t>
            </a:r>
            <a:r>
              <a:rPr sz="1800" b="1">
                <a:solidFill>
                  <a:srgbClr val="111827"/>
                </a:solidFill>
              </a:rPr>
              <a:t>GitHub repo</a:t>
            </a:r>
            <a:r>
              <a:rPr sz="1800">
                <a:solidFill>
                  <a:srgbClr val="111827"/>
                </a:solidFill>
              </a:rPr>
              <a:t>, with the video link in it</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TAKEAWAY</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9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Know your portfolio: the final CBI tests what it claims</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THE FINAL CBI</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10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Twenty minutes per team: your pitch, then our questions</a:t>
            </a:r>
          </a:p>
        </p:txBody>
      </p:sp>
      <p:sp>
        <p:nvSpPr>
          <p:cNvPr id="6" name="TextBox 5"/>
          <p:cNvSpPr txBox="1"/>
          <p:nvPr/>
        </p:nvSpPr>
        <p:spPr>
          <a:xfrm>
            <a:off x="731520" y="2103120"/>
            <a:ext cx="5120640" cy="3931920"/>
          </a:xfrm>
          <a:prstGeom prst="rect">
            <a:avLst/>
          </a:prstGeom>
          <a:noFill/>
        </p:spPr>
        <p:txBody>
          <a:bodyPr wrap="square">
            <a:spAutoFit/>
          </a:bodyPr>
          <a:lstStyle/>
          <a:p>
            <a:pPr>
              <a:spcAft>
                <a:spcPts val="800"/>
              </a:spcAft>
            </a:pPr>
            <a:r>
              <a:rPr sz="1100" b="1">
                <a:solidFill>
                  <a:srgbClr val="4B5563"/>
                </a:solidFill>
              </a:rPr>
              <a:t>5 MINUTES</a:t>
            </a:r>
          </a:p>
          <a:p>
            <a:pPr>
              <a:spcAft>
                <a:spcPts val="800"/>
              </a:spcAft>
            </a:pPr>
            <a:r>
              <a:rPr sz="1800">
                <a:solidFill>
                  <a:srgbClr val="111827"/>
                </a:solidFill>
              </a:rPr>
              <a:t>Your pitch</a:t>
            </a:r>
          </a:p>
        </p:txBody>
      </p:sp>
      <p:sp>
        <p:nvSpPr>
          <p:cNvPr id="7" name="TextBox 6"/>
          <p:cNvSpPr txBox="1"/>
          <p:nvPr/>
        </p:nvSpPr>
        <p:spPr>
          <a:xfrm>
            <a:off x="6309360" y="2103120"/>
            <a:ext cx="5120640" cy="3931920"/>
          </a:xfrm>
          <a:prstGeom prst="rect">
            <a:avLst/>
          </a:prstGeom>
          <a:noFill/>
        </p:spPr>
        <p:txBody>
          <a:bodyPr wrap="square">
            <a:spAutoFit/>
          </a:bodyPr>
          <a:lstStyle/>
          <a:p>
            <a:pPr>
              <a:spcAft>
                <a:spcPts val="800"/>
              </a:spcAft>
            </a:pPr>
            <a:r>
              <a:rPr sz="1100" b="1">
                <a:solidFill>
                  <a:srgbClr val="4B5563"/>
                </a:solidFill>
              </a:rPr>
              <a:t>15 MINUTES</a:t>
            </a:r>
          </a:p>
          <a:p>
            <a:pPr>
              <a:spcAft>
                <a:spcPts val="800"/>
              </a:spcAft>
            </a:pPr>
            <a:r>
              <a:rPr sz="1800">
                <a:solidFill>
                  <a:srgbClr val="111827"/>
                </a:solidFill>
              </a:rPr>
              <a:t>Questions, to </a:t>
            </a:r>
            <a:r>
              <a:rPr sz="1800" b="1">
                <a:solidFill>
                  <a:srgbClr val="111827"/>
                </a:solidFill>
              </a:rPr>
              <a:t>each</a:t>
            </a:r>
            <a:r>
              <a:rPr sz="1800">
                <a:solidFill>
                  <a:srgbClr val="111827"/>
                </a:solidFill>
              </a:rPr>
              <a:t> of you</a:t>
            </a:r>
          </a:p>
          <a:p>
            <a:pPr>
              <a:spcAft>
                <a:spcPts val="800"/>
              </a:spcAft>
            </a:pPr>
            <a:r>
              <a:rPr sz="1800">
                <a:solidFill>
                  <a:srgbClr val="111827"/>
                </a:solidFill>
                <a:hlinkClick r:id="rId2"/>
              </a:rPr>
              <a:t>Your time slot</a:t>
            </a:r>
          </a:p>
        </p:txBody>
      </p:sp>
      <p:sp>
        <p:nvSpPr>
          <p:cNvPr id="8" name="TextBox 7"/>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THE FINAL CBI</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11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Prepare all four questions; your pitch picks its focus</a:t>
            </a:r>
          </a:p>
        </p:txBody>
      </p:sp>
      <p:sp>
        <p:nvSpPr>
          <p:cNvPr id="6" name="TextBox 5"/>
          <p:cNvSpPr txBox="1"/>
          <p:nvPr/>
        </p:nvSpPr>
        <p:spPr>
          <a:xfrm>
            <a:off x="731520" y="2103120"/>
            <a:ext cx="2331720" cy="3931920"/>
          </a:xfrm>
          <a:prstGeom prst="rect">
            <a:avLst/>
          </a:prstGeom>
          <a:noFill/>
        </p:spPr>
        <p:txBody>
          <a:bodyPr wrap="square">
            <a:spAutoFit/>
          </a:bodyPr>
          <a:lstStyle/>
          <a:p>
            <a:pPr>
              <a:spcAft>
                <a:spcPts val="800"/>
              </a:spcAft>
            </a:pPr>
            <a:r>
              <a:rPr sz="1100" b="1">
                <a:solidFill>
                  <a:srgbClr val="4B5563"/>
                </a:solidFill>
              </a:rPr>
              <a:t>RESEARCH</a:t>
            </a:r>
          </a:p>
          <a:p>
            <a:pPr>
              <a:spcAft>
                <a:spcPts val="800"/>
              </a:spcAft>
            </a:pPr>
            <a:r>
              <a:rPr sz="1800">
                <a:solidFill>
                  <a:srgbClr val="111827"/>
                </a:solidFill>
              </a:rPr>
              <a:t>From problem to advice</a:t>
            </a:r>
          </a:p>
        </p:txBody>
      </p:sp>
      <p:sp>
        <p:nvSpPr>
          <p:cNvPr id="7" name="TextBox 6"/>
          <p:cNvSpPr txBox="1"/>
          <p:nvPr/>
        </p:nvSpPr>
        <p:spPr>
          <a:xfrm>
            <a:off x="3520440" y="2103120"/>
            <a:ext cx="2331720" cy="3931920"/>
          </a:xfrm>
          <a:prstGeom prst="rect">
            <a:avLst/>
          </a:prstGeom>
          <a:noFill/>
        </p:spPr>
        <p:txBody>
          <a:bodyPr wrap="square">
            <a:spAutoFit/>
          </a:bodyPr>
          <a:lstStyle/>
          <a:p>
            <a:pPr>
              <a:spcAft>
                <a:spcPts val="800"/>
              </a:spcAft>
            </a:pPr>
            <a:r>
              <a:rPr sz="1100" b="1">
                <a:solidFill>
                  <a:srgbClr val="4B5563"/>
                </a:solidFill>
              </a:rPr>
              <a:t>JUDGEMENT</a:t>
            </a:r>
          </a:p>
          <a:p>
            <a:pPr>
              <a:spcAft>
                <a:spcPts val="800"/>
              </a:spcAft>
            </a:pPr>
            <a:r>
              <a:rPr sz="1800">
                <a:solidFill>
                  <a:srgbClr val="111827"/>
                </a:solidFill>
              </a:rPr>
              <a:t>How far you trust your tool</a:t>
            </a:r>
          </a:p>
        </p:txBody>
      </p:sp>
      <p:sp>
        <p:nvSpPr>
          <p:cNvPr id="8" name="TextBox 7"/>
          <p:cNvSpPr txBox="1"/>
          <p:nvPr/>
        </p:nvSpPr>
        <p:spPr>
          <a:xfrm>
            <a:off x="6309360" y="2103120"/>
            <a:ext cx="2331720" cy="3931920"/>
          </a:xfrm>
          <a:prstGeom prst="rect">
            <a:avLst/>
          </a:prstGeom>
          <a:noFill/>
        </p:spPr>
        <p:txBody>
          <a:bodyPr wrap="square">
            <a:spAutoFit/>
          </a:bodyPr>
          <a:lstStyle/>
          <a:p>
            <a:pPr>
              <a:spcAft>
                <a:spcPts val="800"/>
              </a:spcAft>
            </a:pPr>
            <a:r>
              <a:rPr sz="1100" b="1">
                <a:solidFill>
                  <a:srgbClr val="4B5563"/>
                </a:solidFill>
              </a:rPr>
              <a:t>PERSPECTIVE</a:t>
            </a:r>
          </a:p>
          <a:p>
            <a:pPr>
              <a:spcAft>
                <a:spcPts val="800"/>
              </a:spcAft>
            </a:pPr>
            <a:r>
              <a:rPr sz="1800">
                <a:solidFill>
                  <a:srgbClr val="111827"/>
                </a:solidFill>
              </a:rPr>
              <a:t>Your sector, your future job</a:t>
            </a:r>
          </a:p>
        </p:txBody>
      </p:sp>
      <p:sp>
        <p:nvSpPr>
          <p:cNvPr id="9" name="TextBox 8"/>
          <p:cNvSpPr txBox="1"/>
          <p:nvPr/>
        </p:nvSpPr>
        <p:spPr>
          <a:xfrm>
            <a:off x="9098280" y="2103120"/>
            <a:ext cx="2331720" cy="3931920"/>
          </a:xfrm>
          <a:prstGeom prst="rect">
            <a:avLst/>
          </a:prstGeom>
          <a:noFill/>
        </p:spPr>
        <p:txBody>
          <a:bodyPr wrap="square">
            <a:spAutoFit/>
          </a:bodyPr>
          <a:lstStyle/>
          <a:p>
            <a:pPr>
              <a:spcAft>
                <a:spcPts val="800"/>
              </a:spcAft>
            </a:pPr>
            <a:r>
              <a:rPr sz="1100" b="1">
                <a:solidFill>
                  <a:srgbClr val="4B5563"/>
                </a:solidFill>
              </a:rPr>
              <a:t>GROWTH</a:t>
            </a:r>
          </a:p>
          <a:p>
            <a:pPr>
              <a:spcAft>
                <a:spcPts val="800"/>
              </a:spcAft>
            </a:pPr>
            <a:r>
              <a:rPr sz="1800">
                <a:solidFill>
                  <a:srgbClr val="111827"/>
                </a:solidFill>
              </a:rPr>
              <a:t>What you can do now</a:t>
            </a:r>
          </a:p>
          <a:p>
            <a:pPr>
              <a:spcAft>
                <a:spcPts val="800"/>
              </a:spcAft>
            </a:pPr>
            <a:r>
              <a:rPr sz="1800">
                <a:solidFill>
                  <a:srgbClr val="111827"/>
                </a:solidFill>
                <a:hlinkClick r:id="rId2"/>
              </a:rPr>
              <a:t>The questions in full</a:t>
            </a:r>
          </a:p>
        </p:txBody>
      </p:sp>
      <p:sp>
        <p:nvSpPr>
          <p:cNvPr id="10" name="TextBox 9"/>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THE FINAL ASSESSMENT</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12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Two grades, one per module, built the same way</a:t>
            </a:r>
          </a:p>
        </p:txBody>
      </p:sp>
      <p:sp>
        <p:nvSpPr>
          <p:cNvPr id="6" name="TextBox 5"/>
          <p:cNvSpPr txBox="1"/>
          <p:nvPr/>
        </p:nvSpPr>
        <p:spPr>
          <a:xfrm>
            <a:off x="731520" y="2103120"/>
            <a:ext cx="5120640" cy="3931920"/>
          </a:xfrm>
          <a:prstGeom prst="rect">
            <a:avLst/>
          </a:prstGeom>
          <a:noFill/>
        </p:spPr>
        <p:txBody>
          <a:bodyPr wrap="square">
            <a:spAutoFit/>
          </a:bodyPr>
          <a:lstStyle/>
          <a:p>
            <a:pPr>
              <a:spcAft>
                <a:spcPts val="800"/>
              </a:spcAft>
            </a:pPr>
            <a:r>
              <a:rPr sz="1100" b="1">
                <a:solidFill>
                  <a:srgbClr val="4B5563"/>
                </a:solidFill>
              </a:rPr>
              <a:t>70 %</a:t>
            </a:r>
          </a:p>
          <a:p>
            <a:pPr>
              <a:spcAft>
                <a:spcPts val="800"/>
              </a:spcAft>
            </a:pPr>
            <a:r>
              <a:rPr sz="1800">
                <a:solidFill>
                  <a:srgbClr val="111827"/>
                </a:solidFill>
              </a:rPr>
              <a:t>The final CBI</a:t>
            </a:r>
          </a:p>
        </p:txBody>
      </p:sp>
      <p:sp>
        <p:nvSpPr>
          <p:cNvPr id="7" name="TextBox 6"/>
          <p:cNvSpPr txBox="1"/>
          <p:nvPr/>
        </p:nvSpPr>
        <p:spPr>
          <a:xfrm>
            <a:off x="6309360" y="2103120"/>
            <a:ext cx="5120640" cy="3931920"/>
          </a:xfrm>
          <a:prstGeom prst="rect">
            <a:avLst/>
          </a:prstGeom>
          <a:noFill/>
        </p:spPr>
        <p:txBody>
          <a:bodyPr wrap="square">
            <a:spAutoFit/>
          </a:bodyPr>
          <a:lstStyle/>
          <a:p>
            <a:pPr>
              <a:spcAft>
                <a:spcPts val="800"/>
              </a:spcAft>
            </a:pPr>
            <a:r>
              <a:rPr sz="1100" b="1">
                <a:solidFill>
                  <a:srgbClr val="4B5563"/>
                </a:solidFill>
              </a:rPr>
              <a:t>30 %</a:t>
            </a:r>
          </a:p>
          <a:p>
            <a:pPr>
              <a:spcAft>
                <a:spcPts val="800"/>
              </a:spcAft>
            </a:pPr>
            <a:r>
              <a:rPr sz="1800">
                <a:solidFill>
                  <a:srgbClr val="111827"/>
                </a:solidFill>
              </a:rPr>
              <a:t>Your portfolio</a:t>
            </a:r>
          </a:p>
          <a:p>
            <a:pPr>
              <a:spcAft>
                <a:spcPts val="800"/>
              </a:spcAft>
            </a:pPr>
            <a:r>
              <a:rPr sz="1800">
                <a:solidFill>
                  <a:srgbClr val="111827"/>
                </a:solidFill>
              </a:rPr>
              <a:t>The mini-CBI did not count.</a:t>
            </a:r>
          </a:p>
        </p:txBody>
      </p:sp>
      <p:sp>
        <p:nvSpPr>
          <p:cNvPr id="8" name="TextBox 7"/>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TAKEAWAY</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13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No late hand-in: on Monday at 09:00 we press play</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THE ECONOMY WE BUILD</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14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Last week: front-runners in your sector, from three regions</a:t>
            </a:r>
          </a:p>
        </p:txBody>
      </p:sp>
      <p:sp>
        <p:nvSpPr>
          <p:cNvPr id="6" name="TextBox 5"/>
          <p:cNvSpPr txBox="1"/>
          <p:nvPr/>
        </p:nvSpPr>
        <p:spPr>
          <a:xfrm>
            <a:off x="731520" y="2103120"/>
            <a:ext cx="3261360" cy="3931920"/>
          </a:xfrm>
          <a:prstGeom prst="rect">
            <a:avLst/>
          </a:prstGeom>
          <a:noFill/>
        </p:spPr>
        <p:txBody>
          <a:bodyPr wrap="square">
            <a:spAutoFit/>
          </a:bodyPr>
          <a:lstStyle/>
          <a:p>
            <a:pPr>
              <a:spcAft>
                <a:spcPts val="800"/>
              </a:spcAft>
            </a:pPr>
            <a:r>
              <a:rPr sz="1100" b="1">
                <a:solidFill>
                  <a:srgbClr val="4B5563"/>
                </a:solidFill>
              </a:rPr>
              <a:t>CHINA</a:t>
            </a:r>
          </a:p>
          <a:p>
            <a:pPr>
              <a:spcAft>
                <a:spcPts val="800"/>
              </a:spcAft>
            </a:pPr>
            <a:r>
              <a:rPr sz="1800">
                <a:solidFill>
                  <a:srgbClr val="111827"/>
                </a:solidFill>
              </a:rPr>
              <a:t>Team 5 · 6 · 8</a:t>
            </a:r>
          </a:p>
        </p:txBody>
      </p:sp>
      <p:sp>
        <p:nvSpPr>
          <p:cNvPr id="7" name="TextBox 6"/>
          <p:cNvSpPr txBox="1"/>
          <p:nvPr/>
        </p:nvSpPr>
        <p:spPr>
          <a:xfrm>
            <a:off x="4450080" y="2103120"/>
            <a:ext cx="3261360" cy="3931920"/>
          </a:xfrm>
          <a:prstGeom prst="rect">
            <a:avLst/>
          </a:prstGeom>
          <a:noFill/>
        </p:spPr>
        <p:txBody>
          <a:bodyPr wrap="square">
            <a:spAutoFit/>
          </a:bodyPr>
          <a:lstStyle/>
          <a:p>
            <a:pPr>
              <a:spcAft>
                <a:spcPts val="800"/>
              </a:spcAft>
            </a:pPr>
            <a:r>
              <a:rPr sz="1100" b="1">
                <a:solidFill>
                  <a:srgbClr val="4B5563"/>
                </a:solidFill>
              </a:rPr>
              <a:t>UNITED STATES</a:t>
            </a:r>
          </a:p>
          <a:p>
            <a:pPr>
              <a:spcAft>
                <a:spcPts val="800"/>
              </a:spcAft>
            </a:pPr>
            <a:r>
              <a:rPr sz="1800">
                <a:solidFill>
                  <a:srgbClr val="111827"/>
                </a:solidFill>
              </a:rPr>
              <a:t>Team 1 · 2 · 4</a:t>
            </a:r>
          </a:p>
        </p:txBody>
      </p:sp>
      <p:sp>
        <p:nvSpPr>
          <p:cNvPr id="8" name="TextBox 7"/>
          <p:cNvSpPr txBox="1"/>
          <p:nvPr/>
        </p:nvSpPr>
        <p:spPr>
          <a:xfrm>
            <a:off x="8168640" y="2103120"/>
            <a:ext cx="3261360" cy="3931920"/>
          </a:xfrm>
          <a:prstGeom prst="rect">
            <a:avLst/>
          </a:prstGeom>
          <a:noFill/>
        </p:spPr>
        <p:txBody>
          <a:bodyPr wrap="square">
            <a:spAutoFit/>
          </a:bodyPr>
          <a:lstStyle/>
          <a:p>
            <a:pPr>
              <a:spcAft>
                <a:spcPts val="800"/>
              </a:spcAft>
            </a:pPr>
            <a:r>
              <a:rPr sz="1100" b="1">
                <a:solidFill>
                  <a:srgbClr val="4B5563"/>
                </a:solidFill>
              </a:rPr>
              <a:t>EUROPE</a:t>
            </a:r>
          </a:p>
          <a:p>
            <a:pPr>
              <a:spcAft>
                <a:spcPts val="800"/>
              </a:spcAft>
            </a:pPr>
            <a:r>
              <a:rPr sz="1800">
                <a:solidFill>
                  <a:srgbClr val="111827"/>
                </a:solidFill>
              </a:rPr>
              <a:t>Team 3 · 7</a:t>
            </a:r>
          </a:p>
        </p:txBody>
      </p:sp>
      <p:sp>
        <p:nvSpPr>
          <p:cNvPr id="9" name="TextBox 8"/>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THE ECONOMY WE BUILD</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15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Pitch your postcard from 2035 in two minutes</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What does it do? Whose AI is it? Who gains, who pays? What does it need from the country? What economy does it show?</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DISCUSSION</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16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Our choices shape the economy, and the jobs in it</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Agree or disagree? Take a side, then give one reason from your case.</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AGREE OR DISAGREE?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17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AI will make small firms stronger against big companies.</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AGREE OR DISAGREE?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18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Europe should accept slower AI adoption in exchange for stronger rules.</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AGREE OR DISAGREE?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19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By 2035, most SMEs will employ fewer people because of AI.</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AGREE OR DISAGREE?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20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Whoever owns the AI models will own the profits of the economy.</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AGREE OR DISAGREE?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21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Depending on American or Chinese AI is fine for a Dutch SME.</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AGREE OR DISAGREE?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22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Time saved by AI should become a shorter working week.</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AGREE OR DISAGREE?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23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AI hits entry-level jobs first, so your first job gets harder.</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AGREE OR DISAGREE?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24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Governments, not markets, should decide where AI may replace workers.</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AGREE OR DISAGREE?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25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An SME that does not use AI by 2030 will not survive.</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AGREE OR DISAGREE?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26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AI makes work more human: machines take the routine, people the rest.</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OUR RULEBOOK</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27 / 28</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The rules we keep, week by week</a:t>
            </a:r>
          </a:p>
        </p:txBody>
      </p:sp>
      <p:sp>
        <p:nvSpPr>
          <p:cNvPr id="6" name="TextBox 5"/>
          <p:cNvSpPr txBox="1"/>
          <p:nvPr/>
        </p:nvSpPr>
        <p:spPr>
          <a:xfrm>
            <a:off x="731520" y="2103120"/>
            <a:ext cx="1402080" cy="3931920"/>
          </a:xfrm>
          <a:prstGeom prst="rect">
            <a:avLst/>
          </a:prstGeom>
          <a:noFill/>
        </p:spPr>
        <p:txBody>
          <a:bodyPr wrap="square">
            <a:spAutoFit/>
          </a:bodyPr>
          <a:lstStyle/>
          <a:p>
            <a:pPr>
              <a:spcAft>
                <a:spcPts val="800"/>
              </a:spcAft>
            </a:pPr>
            <a:r>
              <a:rPr sz="1100" b="1">
                <a:solidFill>
                  <a:srgbClr val="4B5563"/>
                </a:solidFill>
              </a:rPr>
              <a:t>RULE 1</a:t>
            </a:r>
          </a:p>
          <a:p>
            <a:pPr>
              <a:spcAft>
                <a:spcPts val="800"/>
              </a:spcAft>
            </a:pPr>
            <a:r>
              <a:rPr sz="1800">
                <a:solidFill>
                  <a:srgbClr val="111827"/>
                </a:solidFill>
              </a:rPr>
              <a:t>Before taking a break, </a:t>
            </a:r>
            <a:r>
              <a:rPr sz="1800" b="1">
                <a:solidFill>
                  <a:srgbClr val="111827"/>
                </a:solidFill>
              </a:rPr>
              <a:t>always</a:t>
            </a:r>
            <a:r>
              <a:rPr sz="1800">
                <a:solidFill>
                  <a:srgbClr val="111827"/>
                </a:solidFill>
              </a:rPr>
              <a:t> set AI to work.</a:t>
            </a:r>
          </a:p>
        </p:txBody>
      </p:sp>
      <p:sp>
        <p:nvSpPr>
          <p:cNvPr id="7" name="TextBox 6"/>
          <p:cNvSpPr txBox="1"/>
          <p:nvPr/>
        </p:nvSpPr>
        <p:spPr>
          <a:xfrm>
            <a:off x="2590800" y="2103120"/>
            <a:ext cx="1402080" cy="3931920"/>
          </a:xfrm>
          <a:prstGeom prst="rect">
            <a:avLst/>
          </a:prstGeom>
          <a:noFill/>
        </p:spPr>
        <p:txBody>
          <a:bodyPr wrap="square">
            <a:spAutoFit/>
          </a:bodyPr>
          <a:lstStyle/>
          <a:p>
            <a:pPr>
              <a:spcAft>
                <a:spcPts val="800"/>
              </a:spcAft>
            </a:pPr>
            <a:r>
              <a:rPr sz="1100" b="1">
                <a:solidFill>
                  <a:srgbClr val="4B5563"/>
                </a:solidFill>
              </a:rPr>
              <a:t>RULE 2</a:t>
            </a:r>
          </a:p>
          <a:p>
            <a:pPr>
              <a:spcAft>
                <a:spcPts val="800"/>
              </a:spcAft>
            </a:pPr>
            <a:r>
              <a:rPr sz="1800">
                <a:solidFill>
                  <a:srgbClr val="111827"/>
                </a:solidFill>
              </a:rPr>
              <a:t>Do something </a:t>
            </a:r>
            <a:r>
              <a:rPr sz="1800" b="1">
                <a:solidFill>
                  <a:srgbClr val="111827"/>
                </a:solidFill>
              </a:rPr>
              <a:t>weird</a:t>
            </a:r>
            <a:r>
              <a:rPr sz="1800">
                <a:solidFill>
                  <a:srgbClr val="111827"/>
                </a:solidFill>
              </a:rPr>
              <a:t>.</a:t>
            </a:r>
          </a:p>
        </p:txBody>
      </p:sp>
      <p:sp>
        <p:nvSpPr>
          <p:cNvPr id="8" name="TextBox 7"/>
          <p:cNvSpPr txBox="1"/>
          <p:nvPr/>
        </p:nvSpPr>
        <p:spPr>
          <a:xfrm>
            <a:off x="4450080" y="2103120"/>
            <a:ext cx="1402080" cy="3931920"/>
          </a:xfrm>
          <a:prstGeom prst="rect">
            <a:avLst/>
          </a:prstGeom>
          <a:noFill/>
        </p:spPr>
        <p:txBody>
          <a:bodyPr wrap="square">
            <a:spAutoFit/>
          </a:bodyPr>
          <a:lstStyle/>
          <a:p>
            <a:pPr>
              <a:spcAft>
                <a:spcPts val="800"/>
              </a:spcAft>
            </a:pPr>
            <a:r>
              <a:rPr sz="1100" b="1">
                <a:solidFill>
                  <a:srgbClr val="4B5563"/>
                </a:solidFill>
              </a:rPr>
              <a:t>RULE 3</a:t>
            </a:r>
          </a:p>
          <a:p>
            <a:pPr>
              <a:spcAft>
                <a:spcPts val="800"/>
              </a:spcAft>
            </a:pPr>
            <a:r>
              <a:rPr sz="1800" b="1">
                <a:solidFill>
                  <a:srgbClr val="111827"/>
                </a:solidFill>
              </a:rPr>
              <a:t>Learning</a:t>
            </a:r>
            <a:r>
              <a:rPr sz="1800">
                <a:solidFill>
                  <a:srgbClr val="111827"/>
                </a:solidFill>
              </a:rPr>
              <a:t> above results.</a:t>
            </a:r>
          </a:p>
        </p:txBody>
      </p:sp>
      <p:sp>
        <p:nvSpPr>
          <p:cNvPr id="9" name="TextBox 8"/>
          <p:cNvSpPr txBox="1"/>
          <p:nvPr/>
        </p:nvSpPr>
        <p:spPr>
          <a:xfrm>
            <a:off x="6309360" y="2103120"/>
            <a:ext cx="1402080" cy="3931920"/>
          </a:xfrm>
          <a:prstGeom prst="rect">
            <a:avLst/>
          </a:prstGeom>
          <a:noFill/>
        </p:spPr>
        <p:txBody>
          <a:bodyPr wrap="square">
            <a:spAutoFit/>
          </a:bodyPr>
          <a:lstStyle/>
          <a:p>
            <a:pPr>
              <a:spcAft>
                <a:spcPts val="800"/>
              </a:spcAft>
            </a:pPr>
            <a:r>
              <a:rPr sz="1100" b="1">
                <a:solidFill>
                  <a:srgbClr val="4B5563"/>
                </a:solidFill>
              </a:rPr>
              <a:t>RULE 4</a:t>
            </a:r>
          </a:p>
          <a:p>
            <a:pPr>
              <a:spcAft>
                <a:spcPts val="800"/>
              </a:spcAft>
            </a:pPr>
            <a:r>
              <a:rPr sz="1800">
                <a:solidFill>
                  <a:srgbClr val="111827"/>
                </a:solidFill>
              </a:rPr>
              <a:t>Technology is </a:t>
            </a:r>
            <a:r>
              <a:rPr sz="1800" b="1">
                <a:solidFill>
                  <a:srgbClr val="111827"/>
                </a:solidFill>
              </a:rPr>
              <a:t>not</a:t>
            </a:r>
            <a:r>
              <a:rPr sz="1800">
                <a:solidFill>
                  <a:srgbClr val="111827"/>
                </a:solidFill>
              </a:rPr>
              <a:t> the barrier.</a:t>
            </a:r>
          </a:p>
        </p:txBody>
      </p:sp>
      <p:sp>
        <p:nvSpPr>
          <p:cNvPr id="10" name="TextBox 9"/>
          <p:cNvSpPr txBox="1"/>
          <p:nvPr/>
        </p:nvSpPr>
        <p:spPr>
          <a:xfrm>
            <a:off x="8168640" y="2103120"/>
            <a:ext cx="1402080" cy="3931920"/>
          </a:xfrm>
          <a:prstGeom prst="rect">
            <a:avLst/>
          </a:prstGeom>
          <a:noFill/>
        </p:spPr>
        <p:txBody>
          <a:bodyPr wrap="square">
            <a:spAutoFit/>
          </a:bodyPr>
          <a:lstStyle/>
          <a:p>
            <a:pPr>
              <a:spcAft>
                <a:spcPts val="800"/>
              </a:spcAft>
            </a:pPr>
            <a:r>
              <a:rPr sz="1100" b="1">
                <a:solidFill>
                  <a:srgbClr val="4B5563"/>
                </a:solidFill>
              </a:rPr>
              <a:t>RULE 5</a:t>
            </a:r>
          </a:p>
          <a:p>
            <a:pPr>
              <a:spcAft>
                <a:spcPts val="800"/>
              </a:spcAft>
            </a:pPr>
            <a:r>
              <a:rPr sz="1800">
                <a:solidFill>
                  <a:srgbClr val="111827"/>
                </a:solidFill>
              </a:rPr>
              <a:t>Know your </a:t>
            </a:r>
            <a:r>
              <a:rPr sz="1800" b="1">
                <a:solidFill>
                  <a:srgbClr val="111827"/>
                </a:solidFill>
              </a:rPr>
              <a:t>(un)known (un)knowns</a:t>
            </a:r>
            <a:r>
              <a:rPr sz="1800">
                <a:solidFill>
                  <a:srgbClr val="111827"/>
                </a:solidFill>
              </a:rPr>
              <a:t>.</a:t>
            </a:r>
          </a:p>
        </p:txBody>
      </p:sp>
      <p:sp>
        <p:nvSpPr>
          <p:cNvPr id="11" name="TextBox 10"/>
          <p:cNvSpPr txBox="1"/>
          <p:nvPr/>
        </p:nvSpPr>
        <p:spPr>
          <a:xfrm>
            <a:off x="10027920" y="2103120"/>
            <a:ext cx="1402080" cy="3931920"/>
          </a:xfrm>
          <a:prstGeom prst="rect">
            <a:avLst/>
          </a:prstGeom>
          <a:noFill/>
        </p:spPr>
        <p:txBody>
          <a:bodyPr wrap="square">
            <a:spAutoFit/>
          </a:bodyPr>
          <a:lstStyle/>
          <a:p>
            <a:pPr>
              <a:spcAft>
                <a:spcPts val="800"/>
              </a:spcAft>
            </a:pPr>
            <a:r>
              <a:rPr sz="1100" b="1">
                <a:solidFill>
                  <a:srgbClr val="4B5563"/>
                </a:solidFill>
              </a:rPr>
              <a:t>RULE 6</a:t>
            </a:r>
          </a:p>
          <a:p>
            <a:pPr>
              <a:spcAft>
                <a:spcPts val="800"/>
              </a:spcAft>
            </a:pPr>
            <a:r>
              <a:rPr sz="1800" i="1">
                <a:solidFill>
                  <a:srgbClr val="6B7280"/>
                </a:solidFill>
              </a:rPr>
              <a:t>Added together in the session.</a:t>
            </a:r>
          </a:p>
        </p:txBody>
      </p:sp>
      <p:sp>
        <p:nvSpPr>
          <p:cNvPr id="12" name="TextBox 11"/>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AI IN BUSINESS</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28 / 28</a:t>
            </a:r>
          </a:p>
        </p:txBody>
      </p:sp>
      <p:sp>
        <p:nvSpPr>
          <p:cNvPr id="5" name="TextBox 4"/>
          <p:cNvSpPr txBox="1"/>
          <p:nvPr/>
        </p:nvSpPr>
        <p:spPr>
          <a:xfrm>
            <a:off x="731520" y="2194560"/>
            <a:ext cx="10698480" cy="1188720"/>
          </a:xfrm>
          <a:prstGeom prst="rect">
            <a:avLst/>
          </a:prstGeom>
          <a:noFill/>
        </p:spPr>
        <p:txBody>
          <a:bodyPr wrap="square">
            <a:spAutoFit/>
          </a:bodyPr>
          <a:lstStyle/>
          <a:p>
            <a:r>
              <a:rPr sz="4400" b="1">
                <a:solidFill>
                  <a:srgbClr val="111827"/>
                </a:solidFill>
              </a:rPr>
              <a:t>See you on 26 October</a:t>
            </a:r>
          </a:p>
        </p:txBody>
      </p:sp>
      <p:sp>
        <p:nvSpPr>
          <p:cNvPr id="6" name="TextBox 5"/>
          <p:cNvSpPr txBox="1"/>
          <p:nvPr/>
        </p:nvSpPr>
        <p:spPr>
          <a:xfrm>
            <a:off x="731520" y="3474720"/>
            <a:ext cx="10698480" cy="2560320"/>
          </a:xfrm>
          <a:prstGeom prst="rect">
            <a:avLst/>
          </a:prstGeom>
          <a:noFill/>
        </p:spPr>
        <p:txBody>
          <a:bodyPr wrap="square">
            <a:spAutoFit/>
          </a:bodyPr>
          <a:lstStyle/>
          <a:p>
            <a:pPr>
              <a:spcAft>
                <a:spcPts val="800"/>
              </a:spcAft>
            </a:pPr>
            <a:r>
              <a:rPr sz="2200">
                <a:solidFill>
                  <a:srgbClr val="4B5563"/>
                </a:solidFill>
              </a:rPr>
              <a:t>Good luck with the final round.</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