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of Monday 5 October. AIBS theme: AI use cases at SMEs. AEL: one way to keep knowledge, built live from an empty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AIBS segment. To be filled in by the AIBS lecturer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what the teams built in week 4 looks things up at the moment a question is asked: files uploaded to a chat, a folder the assistant searches, a vector store. That works, and it forgets. Ask the same question twice and it does the work twice; a contradiction between two sources is found only if a question happens to touch both. Karpathy's point is that nothing accumulates. The week 3 visualisation is the reminder that this is one of four options, not the new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folders, three owners. raw/ is the evidence and is never edited, the assistant included. wiki/ belongs to the assistant: the team reads it and asks for changes. AGENTS.md is the contract, and the team changes it when it does not fit. All six assistants the students use read AGENTS.md; CLAUDE.md and GEMINI.md in the template point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Demo, part 1 (acquire). One command per format, each lands a markdown file in raw/:</a:t>
            </a:r>
          </a:p>
          <a:p/>
          <a:p>
            <a:r>
              <a:t>• Article: `python3 tools/fetch_article.py https://oecdcogito.blog/2025/09/16/agentic-ai-for-small-business-growth/` — about 1,800 words, verbatim.</a:t>
            </a:r>
          </a:p>
          <a:p>
            <a:r>
              <a:t>• Video: `python3 tools/fetch_youtube.py https://www.youtube.com/watch?v=51lXx4wBuHE` — captions only, the video is not downloaded; 64 minutes, about 7,600 words of automatic captions.</a:t>
            </a:r>
          </a:p>
          <a:p>
            <a:r>
              <a:t>• Report: save the PDF in raw/reports/, then `markitdown raw/reports/oecd-empowering-smes-in-the-age-of-ai.pdf &gt; raw/reports/oecd-empowering-smes-in-the-age-of-ai.md` — 36 pages, about 13,000 words, four seconds.</a:t>
            </a:r>
          </a:p>
          <a:p/>
          <a:p>
            <a:r>
              <a:t>Point out that the PDF itself is not committed (.gitignore): the text is, and the source page says where the original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Demo, part 2 (process). In Claude Code: `/ingest raw/articles/agentic-ai-for-small-business-growth.md — added by Witek`. Let the pause happen and read the takeaways out loud before saying go. On the source page, show the byline: a PayPal author on the OECD's blog, and the two business owners in it are invented examples. Then open wiki/index.md and wiki/log.md.</a:t>
            </a:r>
          </a:p>
          <a:p/>
          <a:p>
            <a:r>
              <a:t>Dry run on 30 September, headless, no pause: the article took just under five minutes and wrote twelve pages. With the pause and talking, budget eight. Ingest the article live; if time is short, run the video and the report while talking over s7.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disagreement the wiki should surface once both are in: the article describes an assistant that runs inventory and negotiates with suppliers; the OECD's own survey finds most SME users are novices using off-the-shelf tools. Show where it lands — the Debates section of the concept page, and the confidence number that went down. Also worth a sentence: the OECD calls its own sample non-representative, and the source page should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Demo, part 3 (query and lint). Ask: *Which AI uses pay off first for a small manufacturer, according to the wiki?* Show the citations, then the query entry in the log with the pages it read. Then `/lint`. The quote check is the one to dwell on: it compares every quotation on a wiki page with the raw file, so an invented quotation fails. These are the two habits the knowledge architecture criteria said would come back in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make their copy now, if they did not before the session. The README has the steps. Walk the room: the usual problems are Python not on the PATH on Windows (`python` instead of `python3`) and the venv not activated. Each team ingests one published source of its own and reads the source page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has to switch. A folder with a naming rule, traced end to end, is still a good answer. What the wiki costs: every source is read when it arrives whether anyone asks or not; a misreading lands on several pages at once; past a few hundred pages the index is not enough. A team that adopts it writes a decision-log entry and versions its knowledge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evaluation is held against the PRD's own criteria. The decision log travels with it. The lookup record and the quotation check are what let a team explain a wrong sentence on its page instead of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st.github.com/karpathy/442a6bf555914893e9891c11519de94f" TargetMode="External"/><Relationship Id="rId3" Type="http://schemas.openxmlformats.org/officeDocument/2006/relationships/hyperlink" Target="https://businessdatasolutions.github.io/architecture-of-scale/architecture-of-scale-en.html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ecdcogito.blog/2025/09/16/agentic-ai-for-small-business-growth/" TargetMode="External"/><Relationship Id="rId3" Type="http://schemas.openxmlformats.org/officeDocument/2006/relationships/hyperlink" Target="https://www.youtube.com/watch?v=51lXx4wBuHE" TargetMode="External"/><Relationship Id="rId4" Type="http://schemas.openxmlformats.org/officeDocument/2006/relationships/hyperlink" Target="https://www.oecd.org/content/dam/oecd/en/publications/reports/2026/04/empowering-smes-in-the-age-of-ai_7f58652c/bf5a9816-en.pdf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atadrivendecisions/llm-wiki-template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platform-documents.html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drivendecisions.github.io/ai-in-business/week-05.html#assignments" TargetMode="Externa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11827"/>
                </a:solidFill>
              </a:rPr>
              <a:t>AI use cases at SMEs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B5563"/>
                </a:solidFill>
              </a:rPr>
              <a:t>Week 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AIBS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What small firms really use AI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i="1">
                <a:solidFill>
                  <a:srgbClr val="6B7280"/>
                </a:solidFill>
              </a:rPr>
              <a:t>The AIBS segment is added here before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KNOWLEDGE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Most tools read your sources again for every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“The LLM is rediscovering knowledge from scratch on every question.”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Andrej Karpathy, </a:t>
            </a:r>
            <a:r>
              <a:rPr sz="1800">
                <a:solidFill>
                  <a:srgbClr val="111827"/>
                </a:solidFill>
                <a:hlinkClick r:id="rId2"/>
              </a:rPr>
              <a:t>LLM Wiki</a:t>
            </a:r>
            <a:r>
              <a:rPr sz="1800">
                <a:solidFill>
                  <a:srgbClr val="111827"/>
                </a:solidFill>
              </a:rPr>
              <a:t>, April 2026. Week 3: </a:t>
            </a:r>
            <a:r>
              <a:rPr sz="1800">
                <a:solidFill>
                  <a:srgbClr val="111827"/>
                </a:solidFill>
                <a:hlinkClick r:id="rId3"/>
              </a:rPr>
              <a:t>one question, four ways</a:t>
            </a:r>
            <a:r>
              <a:rPr sz="1800">
                <a:solidFill>
                  <a:srgbClr val="111827"/>
                </a:solidFill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KNOWLEDGE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An LLM wiki reads each source once and keeps what it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RAW/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sources. You add them; nobody edits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WIKI/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pages. The assistant writes; you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8640" y="2103120"/>
            <a:ext cx="326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AGENTS.MD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The rules. You change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Three sources, three formats, one empty wiki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Article.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2"/>
              </a:rPr>
              <a:t>OECD Cogito blog</a:t>
            </a:r>
            <a:r>
              <a:rPr sz="1800">
                <a:solidFill>
                  <a:srgbClr val="111827"/>
                </a:solidFill>
              </a:rPr>
              <a:t>, 2025.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Video.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3"/>
              </a:rPr>
              <a:t>Asian Productivity Organization</a:t>
            </a:r>
            <a:r>
              <a:rPr sz="1800">
                <a:solidFill>
                  <a:srgbClr val="111827"/>
                </a:solidFill>
              </a:rPr>
              <a:t>, 64 minutes.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Report.</a:t>
            </a:r>
            <a:r>
              <a:rPr sz="1800">
                <a:solidFill>
                  <a:srgbClr val="111827"/>
                </a:solidFill>
              </a:rPr>
              <a:t> </a:t>
            </a:r>
            <a:r>
              <a:rPr sz="1800">
                <a:solidFill>
                  <a:srgbClr val="111827"/>
                </a:solidFill>
                <a:hlinkClick r:id="rId4"/>
              </a:rPr>
              <a:t>OECD survey</a:t>
            </a:r>
            <a:r>
              <a:rPr sz="1800">
                <a:solidFill>
                  <a:srgbClr val="111827"/>
                </a:solidFill>
              </a:rPr>
              <a:t>, 2026, 36 pages.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Watch the pause: it reads, then asks before it writes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 pause.</a:t>
            </a:r>
            <a:r>
              <a:rPr sz="1800">
                <a:solidFill>
                  <a:srgbClr val="111827"/>
                </a:solidFill>
              </a:rPr>
              <a:t> Your chance to catch a misreading.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The source page.</a:t>
            </a:r>
            <a:r>
              <a:rPr sz="1800">
                <a:solidFill>
                  <a:srgbClr val="111827"/>
                </a:solidFill>
              </a:rPr>
              <a:t> Who wrote it; who paid for 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Index and log.</a:t>
            </a:r>
            <a:r>
              <a:rPr sz="1800">
                <a:solidFill>
                  <a:srgbClr val="111827"/>
                </a:solidFill>
              </a:rPr>
              <a:t> Every page, every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Two sources, two pictures of AI at small firms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THE ARTICLE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An AI assistant that “negotiates with suppliers”.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Written by someone from PayPal.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B5563"/>
                </a:solidFill>
              </a:rPr>
              <a:t>THE REPORT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11827"/>
                </a:solidFill>
              </a:rPr>
              <a:t>61 %</a:t>
            </a:r>
            <a:r>
              <a:rPr sz="1800">
                <a:solidFill>
                  <a:srgbClr val="111827"/>
                </a:solidFill>
              </a:rPr>
              <a:t> of SMEs use AI. </a:t>
            </a:r>
            <a:r>
              <a:rPr sz="1800" b="1">
                <a:solidFill>
                  <a:srgbClr val="111827"/>
                </a:solidFill>
              </a:rPr>
              <a:t>76 %</a:t>
            </a:r>
            <a:r>
              <a:rPr sz="1800">
                <a:solidFill>
                  <a:srgbClr val="111827"/>
                </a:solidFill>
              </a:rPr>
              <a:t> of those are “AI novices”.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OECD survey, 2,000+ SMEs.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Every answer shows its sources, and the log shows what it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Query.</a:t>
            </a:r>
            <a:r>
              <a:rPr sz="1800">
                <a:solidFill>
                  <a:srgbClr val="111827"/>
                </a:solidFill>
              </a:rPr>
              <a:t> A link after every claim.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Log.</a:t>
            </a:r>
            <a:r>
              <a:rPr sz="1800">
                <a:solidFill>
                  <a:srgbClr val="111827"/>
                </a:solidFill>
              </a:rPr>
              <a:t> The pages each answer read.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Lint.</a:t>
            </a:r>
            <a:r>
              <a:rPr sz="1800">
                <a:solidFill>
                  <a:srgbClr val="111827"/>
                </a:solidFill>
              </a:rPr>
              <a:t> Every quotation checked against its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YOURS TO 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Your team’s copy takes ten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hlinkClick r:id="rId2"/>
              </a:rPr>
              <a:t>datadrivendecisions/llm-wiki-template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Use this template</a:t>
            </a:r>
            <a:r>
              <a:rPr sz="1800">
                <a:solidFill>
                  <a:srgbClr val="111827"/>
                </a:solidFill>
              </a:rPr>
              <a:t> → a new repository.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Clone, install,</a:t>
            </a:r>
            <a:r>
              <a:rPr sz="1800">
                <a:solidFill>
                  <a:srgbClr val="111827"/>
                </a:solidFill>
              </a:rPr>
              <a:t> run the check.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Ingest</a:t>
            </a:r>
            <a:r>
              <a:rPr sz="1800">
                <a:solidFill>
                  <a:srgbClr val="111827"/>
                </a:solidFill>
              </a:rPr>
              <a:t> one published source.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111827"/>
                </a:solidFill>
              </a:rPr>
              <a:t>Never interview material.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YOURS TO 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Adopting the wiki is a decision, and it has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Reading up front.</a:t>
            </a:r>
            <a:r>
              <a:rPr sz="1800">
                <a:solidFill>
                  <a:srgbClr val="111827"/>
                </a:solidFill>
              </a:rPr>
              <a:t> Every source costs model time.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A misreading spreads.</a:t>
            </a:r>
            <a:r>
              <a:rPr sz="1800">
                <a:solidFill>
                  <a:srgbClr val="111827"/>
                </a:solidFill>
              </a:rPr>
              <a:t> Several pages at once.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A few hundred pages.</a:t>
            </a:r>
            <a:r>
              <a:rPr sz="1800">
                <a:solidFill>
                  <a:srgbClr val="111827"/>
                </a:solidFill>
              </a:rPr>
              <a:t> Then you need search.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Adopting it? An entry in your </a:t>
            </a:r>
            <a:r>
              <a:rPr sz="1800">
                <a:solidFill>
                  <a:srgbClr val="111827"/>
                </a:solidFill>
                <a:hlinkClick r:id="rId2"/>
              </a:rPr>
              <a:t>decision log</a:t>
            </a:r>
            <a:r>
              <a:rPr sz="1800">
                <a:solidFill>
                  <a:srgbClr val="111827"/>
                </a:solidFill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66928"/>
            <a:ext cx="320040" cy="73152"/>
          </a:xfrm>
          <a:prstGeom prst="rect">
            <a:avLst/>
          </a:prstGeom>
          <a:solidFill>
            <a:srgbClr val="D4D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411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1A1A"/>
                </a:solidFill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411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</a:rPr>
              <a:t>Before 12 October: the first evaluation, with your decision 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698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hlinkClick r:id="rId2"/>
              </a:rPr>
              <a:t>The assignment is here</a:t>
            </a:r>
            <a:r>
              <a:rPr sz="1800">
                <a:solidFill>
                  <a:srgbClr val="111827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Held against</a:t>
            </a:r>
            <a:r>
              <a:rPr sz="1800">
                <a:solidFill>
                  <a:srgbClr val="111827"/>
                </a:solidFill>
              </a:rPr>
              <a:t> your PRD’s criteria.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A record</a:t>
            </a:r>
            <a:r>
              <a:rPr sz="1800">
                <a:solidFill>
                  <a:srgbClr val="111827"/>
                </a:solidFill>
              </a:rPr>
              <a:t> of each lookup.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</a:rPr>
              <a:t>•  </a:t>
            </a:r>
            <a:r>
              <a:rPr sz="1800" b="1">
                <a:solidFill>
                  <a:srgbClr val="111827"/>
                </a:solidFill>
              </a:rPr>
              <a:t>Every quotation</a:t>
            </a:r>
            <a:r>
              <a:rPr sz="1800">
                <a:solidFill>
                  <a:srgbClr val="111827"/>
                </a:solidFill>
              </a:rPr>
              <a:t> checked against its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B7280"/>
                </a:solidFill>
              </a:rPr>
              <a:t>AI in Business · week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