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of Monday 5 October. AIBS theme: AI use cases at SMEs. AEL: one way to keep knowledge, built live from an empty folder.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AIBS segment. Two pages this week: week 4's theme (SME knowledge gaps) and week 5's (AI use cases). They are one argument: page 1 finds the gap, page 2 picks a use case that answers it. Both follow the chapter template and its four criteria. The full brief is on the week page under the assignments.</a:t>
            </a:r>
          </a:p>
          <a:p/>
          <a:p>
            <a:r>
              <a:t>Fieldwork is behind across the cohort: several interview guides are not final yet. Keep the tone positive. The point of this segment is that no team waits on a firm to start writing.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A. Two groups in the room. Teams with a green light: plan the visit this week, and check the guide asks about both themes (what the firm knows and lacks; what it uses, tried or dropped). Teams without one: finish the guide first. The green light and signed consent still come before any contact. They start plan B alongside, so the pages move while they wait.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B, in order of closeness to the firm. Step 1 (another SME in the sector, a sector association, a regional development agency, an innovation hub, an advisor) is still field research: green light and consent apply. Step 2: owners in public (trade press, podcasts, webinars). Step 3: surveys of SMEs (Eurostat, CBS, the OECD report from the demo), which say what is common and not what this firm does. Step 4: documented cases; recall the week 2 rule that a vendor's story shows a product exists, not that it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In-class assignment, about 60 minutes; what does not get finished becomes homework (photo of cards and postcard in the Teams channel before 12 October). The big question is open on purpose: strategies, whether this is what we want, alignment, who benefits. The aim is that students take part in that discussion, starting from their own sector. Split: China 5, 6, 8; US 1, 2, 4; Europe 3, 7. The industry teams (1, 5, 6, 7) are spread over all three regions, so the wall can compare the same sector across regions.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steps quickly; the full text is on the week page. Keep time visible. If the session runs short, stop after step 2 or 3 and move the rest to homework; the wall then opens the 12 October session.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card questions. Questions 2 to 4 carry the geopolitics: whose model and data, who gains and who pays, and what the state provides or steers. Remind them that front-runner stories mostly come from the company, a vendor or a government: appraise them as in week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at the wall. Let the room answer before the lecturers do. Push on three points: one sentence per region on what it is building; who is left out; and whether Europe is behind or on a route of its own, and what that route means for their SME. Connect to Draghi from week 1, and to CBI guiding questions 3a and 3b. Ask them to write one line in the portfolio on what surprised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fills the slide; tell it left to right, then bottom.</a:t>
            </a:r>
          </a:p>
          <a:p/>
          <a:p>
            <a:r>
              <a:t>• Start at the bottom row, the comparison. Query-time RAG: question, search raw, synthesise on the spot, and only the answer remains. That is what most teams built in week 4: it works, and it forgets. Karpathy: the LLM "is rediscovering knowledge from scratch on every question". The wiki row ends differently: artifacts remain, and are reused and improved.</a:t>
            </a:r>
          </a:p>
          <a:p>
            <a:r>
              <a:t>• Raw sources, top left. The source of truth. The model reads them and never modifies them.</a:t>
            </a:r>
          </a:p>
          <a:p>
            <a:r>
              <a:t>• Ingest, the orange box. Two stages: analysis (entities, concepts, links to what is already in the wiki, contradictions and open questions), then generation (the source summary, entity and concept pages, index and log). This is the step the demo shows.</a:t>
            </a:r>
          </a:p>
          <a:p>
            <a:r>
              <a:t>• The red boxes are the honest part. The same source ingested twice will not give identical pages. A summary drops details. A wrong summary stays as markdown and gets built on: error cementing. This is why the template pauses before writing, checks every quotation against the raw file, and keeps a log.</a:t>
            </a:r>
          </a:p>
          <a:p>
            <a:r>
              <a:t>• LLM wiki, top right. Plain markdown files a person can read. The review queue (contradictions, duplicates, missing pages) is what the lint reports.</a:t>
            </a:r>
          </a:p>
          <a:p>
            <a:r>
              <a:t>• Query loop, the purple row. A question searches the wiki pages and, where needed, the raw sources, fills the context window, and a good answer is saved back to the wiki. Retrieval does not disappear; it gets a better index.</a:t>
            </a:r>
          </a:p>
          <a:p/>
          <a:p>
            <a:r>
              <a:t>Where the template differs from the diagram: `syntheses/` instead of `queries/`, `AGENTS.md` instead of `schema.md`, no `overview.md`. And "meeting notes" as a raw source is fine for a company, never for our field research: no interview material in the wiki.</a:t>
            </a:r>
          </a:p>
          <a:p/>
          <a:p>
            <a:r>
              <a:t>All six assistants the students use read `AGENTS.md`; `CLAUDE.md` and `GEMINI.md` in the template point to it. Week 3's visualisation (one question, four ways) is the reminder that this is one of four options.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Leave this card up and switch to the terminal and Obsidian.</a:t>
            </a:r>
          </a:p>
          <a:p/>
          <a:p>
            <a:r>
              <a:t>Before class (the day before). Create the demo repository from the template, install the helpers, and acquire and ingest the video and the report. They are too long to run live: in the dry run on 30 September (headless, no pause) the video took 10½ minutes and the report 17. Commit after each. The article stays in `raw/` un-ingested, or is fetched live.</a:t>
            </a:r>
          </a:p>
          <a:p/>
          <a:p>
            <a:r>
              <a:t>Acquire, one command per format (show at least the article live; the other two take seconds):</a:t>
            </a:r>
          </a:p>
          <a:p/>
          <a:p>
            <a:r>
              <a:t>• Article: `python3 tools/fetch_article.py https://oecdcogito.blog/2025/09/16/agentic-ai-for-small-business-growth/` — about 1,800 words, word for word.</a:t>
            </a:r>
          </a:p>
          <a:p>
            <a:r>
              <a:t>• Video: `python3 tools/fetch_youtube.py https://www.youtube.com/watch?v=51lXx4wBuHE` — captions only; 64 minutes, about 7,600 words of automatic captions.</a:t>
            </a:r>
          </a:p>
          <a:p>
            <a:r>
              <a:t>• Report: save the PDF in raw/reports/, then `markitdown raw/reports/oecd-empowering-smes-in-the-age-of-ai.pdf &gt; raw/reports/oecd-empowering-smes-in-the-age-of-ai.md` — 36 pages, about 13,000 words, four seconds. The PDF itself is not committed (.gitignore).</a:t>
            </a:r>
          </a:p>
          <a:p/>
          <a:p>
            <a:r>
              <a:t>Live: the article. `/ingest raw/articles/agentic-ai-for-small-business-growth.md — added by Witek`. Let the pause happen and read the takeaways aloud before saying go. On an empty wiki it took just under five minutes; on top of the report and the video expect longer, so budget ten with the pause and talk. Because the survey is already in, the disagreement appears live.</a:t>
            </a:r>
          </a:p>
          <a:p/>
          <a:p>
            <a:r>
              <a:t>Four things to show:</a:t>
            </a:r>
          </a:p>
          <a:p/>
          <a:p>
            <a:r>
              <a:t>1. The pause: the place to catch a misreading before it lands on ten pages.</a:t>
            </a:r>
          </a:p>
          <a:p>
            <a:r>
              <a:t>2. The source page's caveats. In the dry run it found that the author heads PayPal's government relations, that PayPal is a partner of the survey the article cites, that the "72%" figure links back to the article itself, and that the two business owners are invented examples.</a:t>
            </a:r>
          </a:p>
          <a:p>
            <a:r>
              <a:t>3. The disagreement. In the dry run it landed on the `agentic-ai` concept page under Debates: the article writes in the present tense about agents that reorder stock and negotiate with suppliers; the OECD survey counts 3.6% of AI users running agentic AI, in a sample it says is not representative and skews to the digitally mature. The page says what the disagreement turns on (partly tense, partly being found by other people's agents versus running your own) and the page's confidence dropped to 0.65.</a:t>
            </a:r>
          </a:p>
          <a:p>
            <a:r>
              <a:t>4. Query and lint. Ask: *Which AI uses pay off first for a small manufacturer, according to the wiki?* Show the citations, then the query entry in the log with the pages it read. Then `/lint`, and dwell on the quote check: every quotation on a wiki page is compared with the raw file, so an invented quotation fails. These are the two habits the knowledge architecture criteria said would come back in week 5.</a:t>
            </a:r>
          </a:p>
          <a:p/>
          <a:p>
            <a:r>
              <a:t>Fallback. The dry-run wiki, all three sources ingested and lint clean (52 pages), is on the lecturer's laptop outside the repositories. Open it in Obsidian if the network or the model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make their copy now if they did not before the session; the README has the steps. Walk the room: the usual problems are Python on Windows (`python`, not `python3`) and a venv that is not activated. Each team ingests one published source of its own and reads the source page back. Never interview material, private repository or not: what the assistant reads goes to a model service.</a:t>
            </a:r>
          </a:p>
          <a:p/>
          <a:p>
            <a:r>
              <a:t>Nobody has to switch. A folder with a naming rule, traced end to end, is still a good answer. What the wiki costs: every source is read when it arrives, whether anyone asks or not; a misreading lands on several pages at once; past a few hundred pages the index is not enough and you need search. A team that adopts it writes a decision-log entry and versions its knowledge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handbook pages and the first evaluation are due at the start of the session on 12 October; it is the last session and the last feedback moment, and teams may keep improving the two pages afterwards. The first evaluation is held against the PRD's own criteria, and the decision log travels with it. The lookup record and the quotation check are what let a team explain a wrong sentence on its page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rulebook grows by one rule a week. Rules 1 to 3 came from weeks 1 to 3; rule 4 from week 4, "Technology is not the barrier". Rule 5, "Never make someone else's problem yours", was written together in this session, on the whiteboard above the four kinds of knowns and unknowns.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week-05.html#plan-b"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week-05.html#economies"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ecdcogito.blog/2025/09/16/agentic-ai-for-small-business-growth/" TargetMode="External"/><Relationship Id="rId3" Type="http://schemas.openxmlformats.org/officeDocument/2006/relationships/hyperlink" Target="https://www.youtube.com/watch?v=51lXx4wBuHE" TargetMode="External"/><Relationship Id="rId4" Type="http://schemas.openxmlformats.org/officeDocument/2006/relationships/hyperlink" Target="https://www.oecd.org/content/dam/oecd/en/publications/reports/2026/04/empowering-smes-in-the-age-of-ai_7f58652c/bf5a9816-en.pdf"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atadrivendecisions/llm-wiki-template"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week-05.html#assignments"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 IN BUSINESS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 / 13</a:t>
            </a:r>
          </a:p>
        </p:txBody>
      </p:sp>
      <p:sp>
        <p:nvSpPr>
          <p:cNvPr id="5" name="TextBox 4"/>
          <p:cNvSpPr txBox="1"/>
          <p:nvPr/>
        </p:nvSpPr>
        <p:spPr>
          <a:xfrm>
            <a:off x="731520" y="2194560"/>
            <a:ext cx="10698480" cy="1188720"/>
          </a:xfrm>
          <a:prstGeom prst="rect">
            <a:avLst/>
          </a:prstGeom>
          <a:noFill/>
        </p:spPr>
        <p:txBody>
          <a:bodyPr wrap="square">
            <a:spAutoFit/>
          </a:bodyPr>
          <a:lstStyle/>
          <a:p>
            <a:r>
              <a:rPr sz="4400" b="1">
                <a:solidFill>
                  <a:srgbClr val="111827"/>
                </a:solidFill>
              </a:rPr>
              <a:t>AI use cases at SMEs</a:t>
            </a:r>
          </a:p>
        </p:txBody>
      </p:sp>
      <p:sp>
        <p:nvSpPr>
          <p:cNvPr id="6" name="TextBox 5"/>
          <p:cNvSpPr txBox="1"/>
          <p:nvPr/>
        </p:nvSpPr>
        <p:spPr>
          <a:xfrm>
            <a:off x="731520" y="3474720"/>
            <a:ext cx="10698480" cy="2560320"/>
          </a:xfrm>
          <a:prstGeom prst="rect">
            <a:avLst/>
          </a:prstGeom>
          <a:noFill/>
        </p:spPr>
        <p:txBody>
          <a:bodyPr wrap="square">
            <a:spAutoFit/>
          </a:bodyPr>
          <a:lstStyle/>
          <a:p>
            <a:pPr>
              <a:spcAft>
                <a:spcPts val="800"/>
              </a:spcAft>
            </a:pPr>
            <a:r>
              <a:rPr sz="2200">
                <a:solidFill>
                  <a:srgbClr val="4B5563"/>
                </a:solidFill>
              </a:rPr>
              <a:t>Week 5.</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AIBS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Two handbook pages, one argument</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PAGE 1 · KNOWLEDGE GAPS</a:t>
            </a:r>
          </a:p>
          <a:p>
            <a:pPr>
              <a:spcAft>
                <a:spcPts val="800"/>
              </a:spcAft>
            </a:pPr>
            <a:r>
              <a:rPr sz="1800">
                <a:solidFill>
                  <a:srgbClr val="111827"/>
                </a:solidFill>
              </a:rPr>
              <a:t>What does the firm </a:t>
            </a:r>
            <a:r>
              <a:rPr sz="1800" b="1">
                <a:solidFill>
                  <a:srgbClr val="111827"/>
                </a:solidFill>
              </a:rPr>
              <a:t>not know</a:t>
            </a:r>
            <a:r>
              <a:rPr sz="1800">
                <a:solidFill>
                  <a:srgbClr val="111827"/>
                </a:solidFill>
              </a:rPr>
              <a:t> yet?</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PAGE 2 · USE CASES</a:t>
            </a:r>
          </a:p>
          <a:p>
            <a:pPr>
              <a:spcAft>
                <a:spcPts val="800"/>
              </a:spcAft>
            </a:pPr>
            <a:r>
              <a:rPr sz="1800">
                <a:solidFill>
                  <a:srgbClr val="111827"/>
                </a:solidFill>
              </a:rPr>
              <a:t>What could AI </a:t>
            </a:r>
            <a:r>
              <a:rPr sz="1800" b="1">
                <a:solidFill>
                  <a:srgbClr val="111827"/>
                </a:solidFill>
              </a:rPr>
              <a:t>do</a:t>
            </a:r>
            <a:r>
              <a:rPr sz="1800">
                <a:solidFill>
                  <a:srgbClr val="111827"/>
                </a:solidFill>
              </a:rPr>
              <a:t> for it?</a:t>
            </a:r>
          </a:p>
          <a:p>
            <a:pPr>
              <a:spcAft>
                <a:spcPts val="800"/>
              </a:spcAft>
            </a:pPr>
            <a:r>
              <a:rPr sz="1800">
                <a:solidFill>
                  <a:srgbClr val="111827"/>
                </a:solidFill>
              </a:rPr>
              <a:t>The use case answers a gap.</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AIBS · PLAN A</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3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Your interview is the best source for both pages</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GREEN LIGHT</a:t>
            </a:r>
          </a:p>
          <a:p>
            <a:pPr>
              <a:spcAft>
                <a:spcPts val="800"/>
              </a:spcAft>
            </a:pPr>
            <a:r>
              <a:rPr sz="1800">
                <a:solidFill>
                  <a:srgbClr val="111827"/>
                </a:solidFill>
              </a:rPr>
              <a:t>Plan the visit. Ask about </a:t>
            </a:r>
            <a:r>
              <a:rPr sz="1800" b="1">
                <a:solidFill>
                  <a:srgbClr val="111827"/>
                </a:solidFill>
              </a:rPr>
              <a:t>both</a:t>
            </a:r>
            <a:r>
              <a:rPr sz="1800">
                <a:solidFill>
                  <a:srgbClr val="111827"/>
                </a:solidFill>
              </a:rPr>
              <a:t> themes.</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NOT YET</a:t>
            </a:r>
          </a:p>
          <a:p>
            <a:pPr>
              <a:spcAft>
                <a:spcPts val="800"/>
              </a:spcAft>
            </a:pPr>
            <a:r>
              <a:rPr sz="1800">
                <a:solidFill>
                  <a:srgbClr val="111827"/>
                </a:solidFill>
              </a:rPr>
              <a:t>Finish your guide. Start </a:t>
            </a:r>
            <a:r>
              <a:rPr sz="1800" b="1">
                <a:solidFill>
                  <a:srgbClr val="111827"/>
                </a:solidFill>
              </a:rPr>
              <a:t>plan B</a:t>
            </a:r>
            <a:r>
              <a:rPr sz="1800">
                <a:solidFill>
                  <a:srgbClr val="111827"/>
                </a:solidFill>
              </a:rPr>
              <a:t> alongside it.</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AIBS · PLAN B</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4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No firm yet? Get as close to one as you can</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Someone close to the firm → owners in public → surveys of SMEs → documented cases</a:t>
            </a:r>
          </a:p>
          <a:p>
            <a:pPr>
              <a:spcAft>
                <a:spcPts val="800"/>
              </a:spcAft>
            </a:pPr>
            <a:r>
              <a:rPr sz="1800">
                <a:solidFill>
                  <a:srgbClr val="111827"/>
                </a:solidFill>
                <a:hlinkClick r:id="rId2"/>
              </a:rPr>
              <a:t>Plan B, step by step</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IN CLASS · THREE ECONOMIES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5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What economy are the US, China and Europe building with AI?</a:t>
            </a:r>
          </a:p>
        </p:txBody>
      </p:sp>
      <p:sp>
        <p:nvSpPr>
          <p:cNvPr id="6" name="TextBox 5"/>
          <p:cNvSpPr txBox="1"/>
          <p:nvPr/>
        </p:nvSpPr>
        <p:spPr>
          <a:xfrm>
            <a:off x="731520" y="2103120"/>
            <a:ext cx="3261360" cy="3931920"/>
          </a:xfrm>
          <a:prstGeom prst="rect">
            <a:avLst/>
          </a:prstGeom>
          <a:noFill/>
        </p:spPr>
        <p:txBody>
          <a:bodyPr wrap="square">
            <a:spAutoFit/>
          </a:bodyPr>
          <a:lstStyle/>
          <a:p>
            <a:pPr>
              <a:spcAft>
                <a:spcPts val="800"/>
              </a:spcAft>
            </a:pPr>
            <a:r>
              <a:rPr sz="1100" b="1">
                <a:solidFill>
                  <a:srgbClr val="4B5563"/>
                </a:solidFill>
              </a:rPr>
              <a:t>CHINA</a:t>
            </a:r>
          </a:p>
          <a:p>
            <a:pPr>
              <a:spcAft>
                <a:spcPts val="800"/>
              </a:spcAft>
            </a:pPr>
            <a:r>
              <a:rPr sz="1800">
                <a:solidFill>
                  <a:srgbClr val="111827"/>
                </a:solidFill>
              </a:rPr>
              <a:t>Team 5 · 6 · 8</a:t>
            </a:r>
          </a:p>
        </p:txBody>
      </p:sp>
      <p:sp>
        <p:nvSpPr>
          <p:cNvPr id="7" name="TextBox 6"/>
          <p:cNvSpPr txBox="1"/>
          <p:nvPr/>
        </p:nvSpPr>
        <p:spPr>
          <a:xfrm>
            <a:off x="4450080" y="2103120"/>
            <a:ext cx="3261360" cy="3931920"/>
          </a:xfrm>
          <a:prstGeom prst="rect">
            <a:avLst/>
          </a:prstGeom>
          <a:noFill/>
        </p:spPr>
        <p:txBody>
          <a:bodyPr wrap="square">
            <a:spAutoFit/>
          </a:bodyPr>
          <a:lstStyle/>
          <a:p>
            <a:pPr>
              <a:spcAft>
                <a:spcPts val="800"/>
              </a:spcAft>
            </a:pPr>
            <a:r>
              <a:rPr sz="1100" b="1">
                <a:solidFill>
                  <a:srgbClr val="4B5563"/>
                </a:solidFill>
              </a:rPr>
              <a:t>UNITED STATES</a:t>
            </a:r>
          </a:p>
          <a:p>
            <a:pPr>
              <a:spcAft>
                <a:spcPts val="800"/>
              </a:spcAft>
            </a:pPr>
            <a:r>
              <a:rPr sz="1800">
                <a:solidFill>
                  <a:srgbClr val="111827"/>
                </a:solidFill>
              </a:rPr>
              <a:t>Team 1 · 2 · 4</a:t>
            </a:r>
          </a:p>
        </p:txBody>
      </p:sp>
      <p:sp>
        <p:nvSpPr>
          <p:cNvPr id="8" name="TextBox 7"/>
          <p:cNvSpPr txBox="1"/>
          <p:nvPr/>
        </p:nvSpPr>
        <p:spPr>
          <a:xfrm>
            <a:off x="8168640" y="2103120"/>
            <a:ext cx="3261360" cy="3931920"/>
          </a:xfrm>
          <a:prstGeom prst="rect">
            <a:avLst/>
          </a:prstGeom>
          <a:noFill/>
        </p:spPr>
        <p:txBody>
          <a:bodyPr wrap="square">
            <a:spAutoFit/>
          </a:bodyPr>
          <a:lstStyle/>
          <a:p>
            <a:pPr>
              <a:spcAft>
                <a:spcPts val="800"/>
              </a:spcAft>
            </a:pPr>
            <a:r>
              <a:rPr sz="1100" b="1">
                <a:solidFill>
                  <a:srgbClr val="4B5563"/>
                </a:solidFill>
              </a:rPr>
              <a:t>EUROPE</a:t>
            </a:r>
          </a:p>
          <a:p>
            <a:pPr>
              <a:spcAft>
                <a:spcPts val="800"/>
              </a:spcAft>
            </a:pPr>
            <a:r>
              <a:rPr sz="1800">
                <a:solidFill>
                  <a:srgbClr val="111827"/>
                </a:solidFill>
              </a:rPr>
              <a:t>Team 3 · 7</a:t>
            </a:r>
          </a:p>
          <a:p>
            <a:pPr>
              <a:spcAft>
                <a:spcPts val="800"/>
              </a:spcAft>
            </a:pPr>
            <a:r>
              <a:rPr sz="1800">
                <a:solidFill>
                  <a:srgbClr val="111827"/>
                </a:solidFill>
              </a:rPr>
              <a:t>Start from </a:t>
            </a:r>
            <a:r>
              <a:rPr sz="1800" b="1">
                <a:solidFill>
                  <a:srgbClr val="111827"/>
                </a:solidFill>
              </a:rPr>
              <a:t>your own sector</a:t>
            </a:r>
            <a:r>
              <a:rPr sz="1800">
                <a:solidFill>
                  <a:srgbClr val="111827"/>
                </a:solidFill>
              </a:rPr>
              <a:t>.</a:t>
            </a:r>
          </a:p>
        </p:txBody>
      </p:sp>
      <p:sp>
        <p:nvSpPr>
          <p:cNvPr id="9" name="TextBox 8"/>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IN CLASS · THREE ECONOMIES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6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Four steps, sixty minutes</a:t>
            </a:r>
          </a:p>
        </p:txBody>
      </p:sp>
      <p:sp>
        <p:nvSpPr>
          <p:cNvPr id="6" name="TextBox 5"/>
          <p:cNvSpPr txBox="1"/>
          <p:nvPr/>
        </p:nvSpPr>
        <p:spPr>
          <a:xfrm>
            <a:off x="731520" y="2103120"/>
            <a:ext cx="2331720" cy="3931920"/>
          </a:xfrm>
          <a:prstGeom prst="rect">
            <a:avLst/>
          </a:prstGeom>
          <a:noFill/>
        </p:spPr>
        <p:txBody>
          <a:bodyPr wrap="square">
            <a:spAutoFit/>
          </a:bodyPr>
          <a:lstStyle/>
          <a:p>
            <a:pPr>
              <a:spcAft>
                <a:spcPts val="800"/>
              </a:spcAft>
            </a:pPr>
            <a:r>
              <a:rPr sz="1100" b="1">
                <a:solidFill>
                  <a:srgbClr val="4B5563"/>
                </a:solidFill>
              </a:rPr>
              <a:t>15 MIN</a:t>
            </a:r>
          </a:p>
          <a:p>
            <a:pPr>
              <a:spcAft>
                <a:spcPts val="800"/>
              </a:spcAft>
            </a:pPr>
            <a:r>
              <a:rPr sz="1800">
                <a:solidFill>
                  <a:srgbClr val="111827"/>
                </a:solidFill>
              </a:rPr>
              <a:t>Hunt for front-runners</a:t>
            </a:r>
          </a:p>
        </p:txBody>
      </p:sp>
      <p:sp>
        <p:nvSpPr>
          <p:cNvPr id="7" name="TextBox 6"/>
          <p:cNvSpPr txBox="1"/>
          <p:nvPr/>
        </p:nvSpPr>
        <p:spPr>
          <a:xfrm>
            <a:off x="3520440" y="2103120"/>
            <a:ext cx="2331720" cy="3931920"/>
          </a:xfrm>
          <a:prstGeom prst="rect">
            <a:avLst/>
          </a:prstGeom>
          <a:noFill/>
        </p:spPr>
        <p:txBody>
          <a:bodyPr wrap="square">
            <a:spAutoFit/>
          </a:bodyPr>
          <a:lstStyle/>
          <a:p>
            <a:pPr>
              <a:spcAft>
                <a:spcPts val="800"/>
              </a:spcAft>
            </a:pPr>
            <a:r>
              <a:rPr sz="1100" b="1">
                <a:solidFill>
                  <a:srgbClr val="4B5563"/>
                </a:solidFill>
              </a:rPr>
              <a:t>15 MIN</a:t>
            </a:r>
          </a:p>
          <a:p>
            <a:pPr>
              <a:spcAft>
                <a:spcPts val="800"/>
              </a:spcAft>
            </a:pPr>
            <a:r>
              <a:rPr sz="1800">
                <a:solidFill>
                  <a:srgbClr val="111827"/>
                </a:solidFill>
              </a:rPr>
              <a:t>Read your use cases</a:t>
            </a:r>
          </a:p>
        </p:txBody>
      </p:sp>
      <p:sp>
        <p:nvSpPr>
          <p:cNvPr id="8" name="TextBox 7"/>
          <p:cNvSpPr txBox="1"/>
          <p:nvPr/>
        </p:nvSpPr>
        <p:spPr>
          <a:xfrm>
            <a:off x="6309360" y="2103120"/>
            <a:ext cx="2331720" cy="3931920"/>
          </a:xfrm>
          <a:prstGeom prst="rect">
            <a:avLst/>
          </a:prstGeom>
          <a:noFill/>
        </p:spPr>
        <p:txBody>
          <a:bodyPr wrap="square">
            <a:spAutoFit/>
          </a:bodyPr>
          <a:lstStyle/>
          <a:p>
            <a:pPr>
              <a:spcAft>
                <a:spcPts val="800"/>
              </a:spcAft>
            </a:pPr>
            <a:r>
              <a:rPr sz="1100" b="1">
                <a:solidFill>
                  <a:srgbClr val="4B5563"/>
                </a:solidFill>
              </a:rPr>
              <a:t>10 MIN</a:t>
            </a:r>
          </a:p>
          <a:p>
            <a:pPr>
              <a:spcAft>
                <a:spcPts val="800"/>
              </a:spcAft>
            </a:pPr>
            <a:r>
              <a:rPr sz="1800">
                <a:solidFill>
                  <a:srgbClr val="111827"/>
                </a:solidFill>
              </a:rPr>
              <a:t>A postcard from 2035</a:t>
            </a:r>
          </a:p>
        </p:txBody>
      </p:sp>
      <p:sp>
        <p:nvSpPr>
          <p:cNvPr id="9" name="TextBox 8"/>
          <p:cNvSpPr txBox="1"/>
          <p:nvPr/>
        </p:nvSpPr>
        <p:spPr>
          <a:xfrm>
            <a:off x="9098280" y="2103120"/>
            <a:ext cx="2331720" cy="3931920"/>
          </a:xfrm>
          <a:prstGeom prst="rect">
            <a:avLst/>
          </a:prstGeom>
          <a:noFill/>
        </p:spPr>
        <p:txBody>
          <a:bodyPr wrap="square">
            <a:spAutoFit/>
          </a:bodyPr>
          <a:lstStyle/>
          <a:p>
            <a:pPr>
              <a:spcAft>
                <a:spcPts val="800"/>
              </a:spcAft>
            </a:pPr>
            <a:r>
              <a:rPr sz="1100" b="1">
                <a:solidFill>
                  <a:srgbClr val="4B5563"/>
                </a:solidFill>
              </a:rPr>
              <a:t>20 MIN</a:t>
            </a:r>
          </a:p>
          <a:p>
            <a:pPr>
              <a:spcAft>
                <a:spcPts val="800"/>
              </a:spcAft>
            </a:pPr>
            <a:r>
              <a:rPr sz="1800">
                <a:solidFill>
                  <a:srgbClr val="111827"/>
                </a:solidFill>
              </a:rPr>
              <a:t>Three regions, one wall</a:t>
            </a:r>
          </a:p>
          <a:p>
            <a:pPr>
              <a:spcAft>
                <a:spcPts val="800"/>
              </a:spcAft>
            </a:pPr>
            <a:r>
              <a:rPr sz="1800">
                <a:solidFill>
                  <a:srgbClr val="111827"/>
                </a:solidFill>
                <a:hlinkClick r:id="rId2"/>
              </a:rPr>
              <a:t>The steps, in full</a:t>
            </a:r>
          </a:p>
        </p:txBody>
      </p:sp>
      <p:sp>
        <p:nvSpPr>
          <p:cNvPr id="10" name="TextBox 9"/>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IN CLASS · THREE ECONOMIES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7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Five questions for every front-runner</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What does it do? Whose AI is it? Who gains, who pays? What does it need from the country? What economy does it show?</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TAKEAWAY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8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Is that the economy we want? And for whom?</a:t>
            </a:r>
          </a:p>
        </p:txBody>
      </p:sp>
      <p:sp>
        <p:nvSpPr>
          <p:cNvPr id="6" name="TextBox 5"/>
          <p:cNvSpPr txBox="1"/>
          <p:nvPr/>
        </p:nvSpPr>
        <p:spPr>
          <a:xfrm>
            <a:off x="731520" y="2103120"/>
            <a:ext cx="10698480" cy="3931920"/>
          </a:xfrm>
          <a:prstGeom prst="rect">
            <a:avLst/>
          </a:prstGeom>
          <a:noFill/>
        </p:spPr>
        <p:txBody>
          <a:bodyPr wrap="square">
            <a:spAutoFit/>
          </a:bodyPr>
          <a:lstStyle/>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lm-wiki-context-pipeline-en.png"/>
          <p:cNvPicPr>
            <a:picLocks noChangeAspect="1"/>
          </p:cNvPicPr>
          <p:nvPr/>
        </p:nvPicPr>
        <p:blipFill>
          <a:blip r:embed="rId2"/>
          <a:stretch>
            <a:fillRect/>
          </a:stretch>
        </p:blipFill>
        <p:spPr>
          <a:xfrm>
            <a:off x="1192377" y="0"/>
            <a:ext cx="9806940" cy="6537960"/>
          </a:xfrm>
          <a:prstGeom prst="rect">
            <a:avLst/>
          </a:prstGeom>
        </p:spPr>
      </p:pic>
      <p:sp>
        <p:nvSpPr>
          <p:cNvPr id="3" name="TextBox 2"/>
          <p:cNvSpPr txBox="1"/>
          <p:nvPr/>
        </p:nvSpPr>
        <p:spPr>
          <a:xfrm>
            <a:off x="7436815" y="6528816"/>
            <a:ext cx="4572000" cy="274320"/>
          </a:xfrm>
          <a:prstGeom prst="rect">
            <a:avLst/>
          </a:prstGeom>
          <a:noFill/>
        </p:spPr>
        <p:txBody>
          <a:bodyPr wrap="square">
            <a:spAutoFit/>
          </a:bodyPr>
          <a:lstStyle/>
          <a:p>
            <a:pPr algn="r"/>
            <a:r>
              <a:rPr sz="800">
                <a:solidFill>
                  <a:srgbClr val="6B7280"/>
                </a:solidFill>
              </a:rPr>
              <a:t>Diagram: SmartScope, LLM Wiki Architecture,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LIVE DEMO</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10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Three sources, three formats, one empty wiki</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Article.</a:t>
            </a:r>
            <a:r>
              <a:rPr sz="1800">
                <a:solidFill>
                  <a:srgbClr val="111827"/>
                </a:solidFill>
              </a:rPr>
              <a:t> </a:t>
            </a:r>
            <a:r>
              <a:rPr sz="1800">
                <a:solidFill>
                  <a:srgbClr val="111827"/>
                </a:solidFill>
                <a:hlinkClick r:id="rId2"/>
              </a:rPr>
              <a:t>OECD Cogito blog</a:t>
            </a:r>
            <a:r>
              <a:rPr sz="1800">
                <a:solidFill>
                  <a:srgbClr val="111827"/>
                </a:solidFill>
              </a:rPr>
              <a:t>, 2025.</a:t>
            </a:r>
          </a:p>
          <a:p>
            <a:pPr>
              <a:spcAft>
                <a:spcPts val="800"/>
              </a:spcAft>
            </a:pPr>
            <a:r>
              <a:rPr sz="1800">
                <a:solidFill>
                  <a:srgbClr val="111827"/>
                </a:solidFill>
              </a:rPr>
              <a:t>•  </a:t>
            </a:r>
            <a:r>
              <a:rPr sz="1800" b="1">
                <a:solidFill>
                  <a:srgbClr val="111827"/>
                </a:solidFill>
              </a:rPr>
              <a:t>Video.</a:t>
            </a:r>
            <a:r>
              <a:rPr sz="1800">
                <a:solidFill>
                  <a:srgbClr val="111827"/>
                </a:solidFill>
              </a:rPr>
              <a:t> </a:t>
            </a:r>
            <a:r>
              <a:rPr sz="1800">
                <a:solidFill>
                  <a:srgbClr val="111827"/>
                </a:solidFill>
                <a:hlinkClick r:id="rId3"/>
              </a:rPr>
              <a:t>Asian Productivity Organization</a:t>
            </a:r>
            <a:r>
              <a:rPr sz="1800">
                <a:solidFill>
                  <a:srgbClr val="111827"/>
                </a:solidFill>
              </a:rPr>
              <a:t>, 64 minutes.</a:t>
            </a:r>
          </a:p>
          <a:p>
            <a:pPr>
              <a:spcAft>
                <a:spcPts val="800"/>
              </a:spcAft>
            </a:pPr>
            <a:r>
              <a:rPr sz="1800">
                <a:solidFill>
                  <a:srgbClr val="111827"/>
                </a:solidFill>
              </a:rPr>
              <a:t>•  </a:t>
            </a:r>
            <a:r>
              <a:rPr sz="1800" b="1">
                <a:solidFill>
                  <a:srgbClr val="111827"/>
                </a:solidFill>
              </a:rPr>
              <a:t>Report.</a:t>
            </a:r>
            <a:r>
              <a:rPr sz="1800">
                <a:solidFill>
                  <a:srgbClr val="111827"/>
                </a:solidFill>
              </a:rPr>
              <a:t> </a:t>
            </a:r>
            <a:r>
              <a:rPr sz="1800">
                <a:solidFill>
                  <a:srgbClr val="111827"/>
                </a:solidFill>
                <a:hlinkClick r:id="rId4"/>
              </a:rPr>
              <a:t>OECD survey</a:t>
            </a:r>
            <a:r>
              <a:rPr sz="1800">
                <a:solidFill>
                  <a:srgbClr val="111827"/>
                </a:solidFill>
              </a:rPr>
              <a:t>, 2026, 36 pages.</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YOURS TO TAKE</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11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Your team’s copy takes ten minutes</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hlinkClick r:id="rId2"/>
              </a:rPr>
              <a:t>datadrivendecisions/llm-wiki-template</a:t>
            </a:r>
          </a:p>
          <a:p>
            <a:pPr>
              <a:spcAft>
                <a:spcPts val="800"/>
              </a:spcAft>
            </a:pPr>
            <a:r>
              <a:rPr sz="1800" b="1">
                <a:solidFill>
                  <a:srgbClr val="111827"/>
                </a:solidFill>
              </a:rPr>
              <a:t>Never interview material.</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HOMEWORK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12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Before 12 October: two pages, the evaluation, your decision log</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hlinkClick r:id="rId2"/>
              </a:rPr>
              <a:t>The assignment is here</a:t>
            </a:r>
            <a:r>
              <a:rPr sz="1800">
                <a:solidFill>
                  <a:srgbClr val="111827"/>
                </a:solidFill>
              </a:rPr>
              <a:t>.</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OUR RULEBOOK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13 / 13</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The rules we keep, week by week</a:t>
            </a:r>
          </a:p>
        </p:txBody>
      </p:sp>
      <p:sp>
        <p:nvSpPr>
          <p:cNvPr id="6" name="TextBox 5"/>
          <p:cNvSpPr txBox="1"/>
          <p:nvPr/>
        </p:nvSpPr>
        <p:spPr>
          <a:xfrm>
            <a:off x="731520" y="2103120"/>
            <a:ext cx="1773936" cy="3931920"/>
          </a:xfrm>
          <a:prstGeom prst="rect">
            <a:avLst/>
          </a:prstGeom>
          <a:noFill/>
        </p:spPr>
        <p:txBody>
          <a:bodyPr wrap="square">
            <a:spAutoFit/>
          </a:bodyPr>
          <a:lstStyle/>
          <a:p>
            <a:pPr>
              <a:spcAft>
                <a:spcPts val="800"/>
              </a:spcAft>
            </a:pPr>
            <a:r>
              <a:rPr sz="1100" b="1">
                <a:solidFill>
                  <a:srgbClr val="4B5563"/>
                </a:solidFill>
              </a:rPr>
              <a:t>RULE 1</a:t>
            </a:r>
          </a:p>
          <a:p>
            <a:pPr>
              <a:spcAft>
                <a:spcPts val="800"/>
              </a:spcAft>
            </a:pPr>
            <a:r>
              <a:rPr sz="1800">
                <a:solidFill>
                  <a:srgbClr val="111827"/>
                </a:solidFill>
              </a:rPr>
              <a:t>Before taking a break, </a:t>
            </a:r>
            <a:r>
              <a:rPr sz="1800" b="1">
                <a:solidFill>
                  <a:srgbClr val="111827"/>
                </a:solidFill>
              </a:rPr>
              <a:t>always</a:t>
            </a:r>
            <a:r>
              <a:rPr sz="1800">
                <a:solidFill>
                  <a:srgbClr val="111827"/>
                </a:solidFill>
              </a:rPr>
              <a:t> set AI to work.</a:t>
            </a:r>
          </a:p>
        </p:txBody>
      </p:sp>
      <p:sp>
        <p:nvSpPr>
          <p:cNvPr id="7" name="TextBox 6"/>
          <p:cNvSpPr txBox="1"/>
          <p:nvPr/>
        </p:nvSpPr>
        <p:spPr>
          <a:xfrm>
            <a:off x="2962656" y="2103120"/>
            <a:ext cx="1773936" cy="3931920"/>
          </a:xfrm>
          <a:prstGeom prst="rect">
            <a:avLst/>
          </a:prstGeom>
          <a:noFill/>
        </p:spPr>
        <p:txBody>
          <a:bodyPr wrap="square">
            <a:spAutoFit/>
          </a:bodyPr>
          <a:lstStyle/>
          <a:p>
            <a:pPr>
              <a:spcAft>
                <a:spcPts val="800"/>
              </a:spcAft>
            </a:pPr>
            <a:r>
              <a:rPr sz="1100" b="1">
                <a:solidFill>
                  <a:srgbClr val="4B5563"/>
                </a:solidFill>
              </a:rPr>
              <a:t>RULE 2</a:t>
            </a:r>
          </a:p>
          <a:p>
            <a:pPr>
              <a:spcAft>
                <a:spcPts val="800"/>
              </a:spcAft>
            </a:pPr>
            <a:r>
              <a:rPr sz="1800">
                <a:solidFill>
                  <a:srgbClr val="111827"/>
                </a:solidFill>
              </a:rPr>
              <a:t>Do something </a:t>
            </a:r>
            <a:r>
              <a:rPr sz="1800" b="1">
                <a:solidFill>
                  <a:srgbClr val="111827"/>
                </a:solidFill>
              </a:rPr>
              <a:t>weird</a:t>
            </a:r>
            <a:r>
              <a:rPr sz="1800">
                <a:solidFill>
                  <a:srgbClr val="111827"/>
                </a:solidFill>
              </a:rPr>
              <a:t>.</a:t>
            </a:r>
          </a:p>
        </p:txBody>
      </p:sp>
      <p:sp>
        <p:nvSpPr>
          <p:cNvPr id="8" name="TextBox 7"/>
          <p:cNvSpPr txBox="1"/>
          <p:nvPr/>
        </p:nvSpPr>
        <p:spPr>
          <a:xfrm>
            <a:off x="5193792" y="2103120"/>
            <a:ext cx="1773936" cy="3931920"/>
          </a:xfrm>
          <a:prstGeom prst="rect">
            <a:avLst/>
          </a:prstGeom>
          <a:noFill/>
        </p:spPr>
        <p:txBody>
          <a:bodyPr wrap="square">
            <a:spAutoFit/>
          </a:bodyPr>
          <a:lstStyle/>
          <a:p>
            <a:pPr>
              <a:spcAft>
                <a:spcPts val="800"/>
              </a:spcAft>
            </a:pPr>
            <a:r>
              <a:rPr sz="1100" b="1">
                <a:solidFill>
                  <a:srgbClr val="4B5563"/>
                </a:solidFill>
              </a:rPr>
              <a:t>RULE 3</a:t>
            </a:r>
          </a:p>
          <a:p>
            <a:pPr>
              <a:spcAft>
                <a:spcPts val="800"/>
              </a:spcAft>
            </a:pPr>
            <a:r>
              <a:rPr sz="1800" b="1">
                <a:solidFill>
                  <a:srgbClr val="111827"/>
                </a:solidFill>
              </a:rPr>
              <a:t>Learning</a:t>
            </a:r>
            <a:r>
              <a:rPr sz="1800">
                <a:solidFill>
                  <a:srgbClr val="111827"/>
                </a:solidFill>
              </a:rPr>
              <a:t> above results.</a:t>
            </a:r>
          </a:p>
        </p:txBody>
      </p:sp>
      <p:sp>
        <p:nvSpPr>
          <p:cNvPr id="9" name="TextBox 8"/>
          <p:cNvSpPr txBox="1"/>
          <p:nvPr/>
        </p:nvSpPr>
        <p:spPr>
          <a:xfrm>
            <a:off x="7424928" y="2103120"/>
            <a:ext cx="1773936" cy="3931920"/>
          </a:xfrm>
          <a:prstGeom prst="rect">
            <a:avLst/>
          </a:prstGeom>
          <a:noFill/>
        </p:spPr>
        <p:txBody>
          <a:bodyPr wrap="square">
            <a:spAutoFit/>
          </a:bodyPr>
          <a:lstStyle/>
          <a:p>
            <a:pPr>
              <a:spcAft>
                <a:spcPts val="800"/>
              </a:spcAft>
            </a:pPr>
            <a:r>
              <a:rPr sz="1100" b="1">
                <a:solidFill>
                  <a:srgbClr val="4B5563"/>
                </a:solidFill>
              </a:rPr>
              <a:t>RULE 4</a:t>
            </a:r>
          </a:p>
          <a:p>
            <a:pPr>
              <a:spcAft>
                <a:spcPts val="800"/>
              </a:spcAft>
            </a:pPr>
            <a:r>
              <a:rPr sz="1800">
                <a:solidFill>
                  <a:srgbClr val="111827"/>
                </a:solidFill>
              </a:rPr>
              <a:t>Technology is </a:t>
            </a:r>
            <a:r>
              <a:rPr sz="1800" b="1">
                <a:solidFill>
                  <a:srgbClr val="111827"/>
                </a:solidFill>
              </a:rPr>
              <a:t>not</a:t>
            </a:r>
            <a:r>
              <a:rPr sz="1800">
                <a:solidFill>
                  <a:srgbClr val="111827"/>
                </a:solidFill>
              </a:rPr>
              <a:t> the barrier.</a:t>
            </a:r>
          </a:p>
        </p:txBody>
      </p:sp>
      <p:sp>
        <p:nvSpPr>
          <p:cNvPr id="10" name="TextBox 9"/>
          <p:cNvSpPr txBox="1"/>
          <p:nvPr/>
        </p:nvSpPr>
        <p:spPr>
          <a:xfrm>
            <a:off x="9656064" y="2103120"/>
            <a:ext cx="1773936" cy="3931920"/>
          </a:xfrm>
          <a:prstGeom prst="rect">
            <a:avLst/>
          </a:prstGeom>
          <a:noFill/>
        </p:spPr>
        <p:txBody>
          <a:bodyPr wrap="square">
            <a:spAutoFit/>
          </a:bodyPr>
          <a:lstStyle/>
          <a:p>
            <a:pPr>
              <a:spcAft>
                <a:spcPts val="800"/>
              </a:spcAft>
            </a:pPr>
            <a:r>
              <a:rPr sz="1100" b="1">
                <a:solidFill>
                  <a:srgbClr val="4B5563"/>
                </a:solidFill>
              </a:rPr>
              <a:t>RULE 5</a:t>
            </a:r>
          </a:p>
          <a:p>
            <a:pPr>
              <a:spcAft>
                <a:spcPts val="800"/>
              </a:spcAft>
            </a:pPr>
            <a:r>
              <a:rPr sz="1800">
                <a:solidFill>
                  <a:srgbClr val="111827"/>
                </a:solidFill>
              </a:rPr>
              <a:t>Never make </a:t>
            </a:r>
            <a:r>
              <a:rPr sz="1800" b="1">
                <a:solidFill>
                  <a:srgbClr val="111827"/>
                </a:solidFill>
              </a:rPr>
              <a:t>someone else’s</a:t>
            </a:r>
            <a:r>
              <a:rPr sz="1800">
                <a:solidFill>
                  <a:srgbClr val="111827"/>
                </a:solidFill>
              </a:rPr>
              <a:t> problem yours.</a:t>
            </a:r>
          </a:p>
        </p:txBody>
      </p:sp>
      <p:sp>
        <p:nvSpPr>
          <p:cNvPr id="11" name="TextBox 10"/>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