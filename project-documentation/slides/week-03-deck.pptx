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Session of Monday 21 September. AIBS theme: trust and AI safety. AEL decision: where the team's knowledge lives.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Placeholder for the experiment debrief. It stays empty until the session itself supplies the result — the debrief is read off the room's own data, not written in advance. The AI agents segment (s8–s10) still comes after the experiment rather than before it: an agents segment ahead of the experiment would be a treatment nobody randomised. The research-methodology segment (s3–s7) sits between the two safely, because it runs after the experiment has already been played, not before.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Desk research: the tool AEL is building for the team's own research is the new part of the "way of working" — not a shortcut, a designed instrument. Field research: this is the case study visit, and it earns its place by giving the team something a desk cannot — data nobody else has, and a check against everything the desk work assumed.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Reliability, validity and transparency are the three questions to ask of a tool's own output, not just of what it retrieves. A team that cannot say "yes" to all three does not yet have a research instrument, it has a demo. Field research earns its place on a different axis: not whether it is reliable in the same sense, but whether the one case generalises — its relevance beyond itself.</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pivot slide. Reliability, validity and transparency are not new to research — they are the field's existing quality bar. What is new is asking them of a process that includes an AI tool: the tool's output has to clear the same bar a human researcher's would, and a team should be able to say how it knows.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room's own first result, not a hypothetical: this is the first time the search-strategy and quality-criteria assignments from week 2 come back to be checked rather than just handed in. Push on the middle question — "did you check" is a different claim from "did you write criteria" — and let the third question be answered honestly rather than diplomatically; a flat "not yet" is a better answer here than a confident guess.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separate questions, deliberately not collapsed into one. Trusting the tool's output is a methods question. Being trusted as a researcher is about the team's own credibility once AI is part of the process — a reader who cannot tell what the team checked will trust the whole page less, not more. Ownership is the one students usually have not considered: if the tool drafted it, whose work is it, and what do you say about that in the write-up?</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five minutes. Connects to AEL week 1 (the spike) and AEL week 2 (the debrief that named ReAct).</a:t>
            </a:r>
          </a:p>
          <a:p/>
          <a:p>
            <a:r>
              <a:t>Every team has used an agent for two weeks: the agentic command line of the week 1 spike. This card gives that a name. The definition is the one Google and Anthropic developer material both use by mid-2026: an LLM with tools, running in a loop, towards a goal. Wooldridge's textbook definition from 2009 leaves the LLM out. A thermostat passes his test.</a:t>
            </a:r>
          </a:p>
          <a:p/>
          <a:p>
            <a:r>
              <a:t>The line between a workflow and an agent is who picks the next step. In a workflow, your code sets the path. In an agent, the model decides. Both can use tools and loop.</a:t>
            </a:r>
          </a:p>
          <a:p/>
          <a:p>
            <a:r>
              <a:t>The loop is the one they watched in the spike: reason, act, observe, and again. If the week 2 debrief did not name ReAct, introduce it here rather than recall it.</a:t>
            </a:r>
          </a:p>
          <a:p/>
          <a:p>
            <a:r>
              <a:t>The intern from week 1 still holds: capable, and still needs someone in charge of judgement and oversight — Karpathy's phrase for it is "intern entities".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five minutes. Connects to AEL week 3, this week's knowledge-architecture decision, and back to AIBS week 2 on vendor dependency.</a:t>
            </a:r>
          </a:p>
          <a:p/>
          <a:p>
            <a:r>
              <a:t>The harness is everything around the model: what it sees, which tools it may call, what happens after each step. Open the *Harness is the OS* visualisation: the model is the CPU, "powerful but inert" in the source's words; the context window is the RAM; the harness is the operating system that decides what the CPU sees and when.</a:t>
            </a:r>
          </a:p>
          <a:p/>
          <a:p>
            <a:r>
              <a:t>Why it matters to an SME: the model is rented from a vendor who will be overtaken within the year. The harness is what a company builds, owns and improves.</a:t>
            </a:r>
          </a:p>
          <a:p/>
          <a:p>
            <a:r>
              <a:t>This week's AEL decision is one part of that harness — where the team's knowledge lives. RAG retrieves passages from documents at the moment of the question. An LLM Wiki compiles sources into pages ahead of time. Fat Skills act on what is known without being asked. Open *one question, four ways* and let the room see the same question answered each way. The choice follows from what the agent's job is.</a:t>
            </a:r>
          </a:p>
          <a:p/>
          <a:p>
            <a:r>
              <a:t>Name Contracts, Constraints and Compounding and move on. They come in weeks 4 to 6, each after the failure it answers.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five minutes. Connects to AIBS week 3: the brief asks whether the SME can trust AI, and splits the answer three ways.</a:t>
            </a:r>
          </a:p>
          <a:p/>
          <a:p>
            <a:r>
              <a:t>Data. The model is rented and the harness owned, so the question is what leaves the building. A small language model is defined by the device it fits on, which turns "can we run it ourselves?" into a question with an answer.</a:t>
            </a:r>
          </a:p>
          <a:p/>
          <a:p>
            <a:r>
              <a:t>Output. People regret an agent that acted beyond what they would have authorised, even when the result was correct. The trigger is an action that cannot be recalled and that someone outside sees — sending an email is the example. Tie it to the room: in one of the two rounds everyone put their position to an assistant. By the definition on the first agents card that was not an agent — no tools, no loop, it could only reply. Nothing it did could be recalled or seen outside the room, which is the safe end of that scale. Where should an SME's first real agent sit?</a:t>
            </a:r>
          </a:p>
          <a:p/>
          <a:p>
            <a:r>
              <a:t>People. Whether employees admit to using AI follows trust. In a survey of 604 daily users, 14 % in the most-trusting quartile hid their AI use, against 47 % in the least-trusting.</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rulebook, not the recap: read Rule 1 and Rule 2 as fixed and Rule 3 as the one the room writes today, the way week 2 wrote Rule 2. If nobody proposes one, offer a candidate rather than close the slide empty.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businessdatasolutions.github.io/ai-wiki/concepts/ai-agents" TargetMode="Externa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businessdatasolutions.github.io/architecture-of-scale/harness-is-os-en.html" TargetMode="External"/><Relationship Id="rId3" Type="http://schemas.openxmlformats.org/officeDocument/2006/relationships/hyperlink" Target="https://businessdatasolutions.github.io/architecture-of-scale/architecture-of-scale-en.html" TargetMode="Externa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businessdatasolutions.github.io/ai-wiki/concepts/agent-oversight-and-delegation" TargetMode="External"/><Relationship Id="rId3" Type="http://schemas.openxmlformats.org/officeDocument/2006/relationships/hyperlink" Target="https://businessdatasolutions.github.io/ai-wiki/concepts/ai-knowledge-hiding" TargetMode="Externa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5F0E6"/>
        </a:solidFill>
        <a:effectLst/>
      </p:bgPr>
    </p:bg>
    <p:spTree>
      <p:nvGrpSpPr>
        <p:cNvPr id="1" name=""/>
        <p:cNvGrpSpPr/>
        <p:nvPr/>
      </p:nvGrpSpPr>
      <p:grpSpPr/>
      <p:sp>
        <p:nvSpPr>
          <p:cNvPr id="2" name="Rectangle 1"/>
          <p:cNvSpPr/>
          <p:nvPr/>
        </p:nvSpPr>
        <p:spPr>
          <a:xfrm>
            <a:off x="731520" y="566928"/>
            <a:ext cx="320040" cy="73152"/>
          </a:xfrm>
          <a:prstGeom prst="rect">
            <a:avLst/>
          </a:prstGeom>
          <a:solidFill>
            <a:srgbClr val="D4DB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411480"/>
            <a:ext cx="7315200" cy="365760"/>
          </a:xfrm>
          <a:prstGeom prst="rect">
            <a:avLst/>
          </a:prstGeom>
          <a:noFill/>
        </p:spPr>
        <p:txBody>
          <a:bodyPr wrap="square">
            <a:spAutoFit/>
          </a:bodyPr>
          <a:lstStyle/>
          <a:p>
            <a:r>
              <a:rPr sz="1100" b="1">
                <a:solidFill>
                  <a:srgbClr val="1A1A1A"/>
                </a:solidFill>
              </a:rPr>
              <a:t>AI IN BUSINESS</a:t>
            </a:r>
          </a:p>
        </p:txBody>
      </p:sp>
      <p:sp>
        <p:nvSpPr>
          <p:cNvPr id="4" name="TextBox 3"/>
          <p:cNvSpPr txBox="1"/>
          <p:nvPr/>
        </p:nvSpPr>
        <p:spPr>
          <a:xfrm>
            <a:off x="9601200" y="411480"/>
            <a:ext cx="1828800" cy="365760"/>
          </a:xfrm>
          <a:prstGeom prst="rect">
            <a:avLst/>
          </a:prstGeom>
          <a:noFill/>
        </p:spPr>
        <p:txBody>
          <a:bodyPr wrap="square">
            <a:spAutoFit/>
          </a:bodyPr>
          <a:lstStyle/>
          <a:p>
            <a:pPr algn="r"/>
            <a:r>
              <a:rPr sz="1100">
                <a:solidFill>
                  <a:srgbClr val="6B7280"/>
                </a:solidFill>
              </a:rPr>
              <a:t>1 / 11</a:t>
            </a:r>
          </a:p>
        </p:txBody>
      </p:sp>
      <p:sp>
        <p:nvSpPr>
          <p:cNvPr id="5" name="TextBox 4"/>
          <p:cNvSpPr txBox="1"/>
          <p:nvPr/>
        </p:nvSpPr>
        <p:spPr>
          <a:xfrm>
            <a:off x="731520" y="2194560"/>
            <a:ext cx="10698480" cy="1188720"/>
          </a:xfrm>
          <a:prstGeom prst="rect">
            <a:avLst/>
          </a:prstGeom>
          <a:noFill/>
        </p:spPr>
        <p:txBody>
          <a:bodyPr wrap="square">
            <a:spAutoFit/>
          </a:bodyPr>
          <a:lstStyle/>
          <a:p>
            <a:r>
              <a:rPr sz="4400" b="1">
                <a:solidFill>
                  <a:srgbClr val="111827"/>
                </a:solidFill>
              </a:rPr>
              <a:t>Trust and AI safety</a:t>
            </a:r>
          </a:p>
        </p:txBody>
      </p:sp>
      <p:sp>
        <p:nvSpPr>
          <p:cNvPr id="6" name="TextBox 5"/>
          <p:cNvSpPr txBox="1"/>
          <p:nvPr/>
        </p:nvSpPr>
        <p:spPr>
          <a:xfrm>
            <a:off x="731520" y="3474720"/>
            <a:ext cx="10698480" cy="2560320"/>
          </a:xfrm>
          <a:prstGeom prst="rect">
            <a:avLst/>
          </a:prstGeom>
          <a:noFill/>
        </p:spPr>
        <p:txBody>
          <a:bodyPr wrap="square">
            <a:spAutoFit/>
          </a:bodyPr>
          <a:lstStyle/>
          <a:p>
            <a:pPr>
              <a:spcAft>
                <a:spcPts val="800"/>
              </a:spcAft>
            </a:pPr>
            <a:r>
              <a:rPr sz="2200">
                <a:solidFill>
                  <a:srgbClr val="4B5563"/>
                </a:solidFill>
              </a:rPr>
              <a:t>Week 3.</a:t>
            </a:r>
          </a:p>
        </p:txBody>
      </p:sp>
      <p:sp>
        <p:nvSpPr>
          <p:cNvPr id="7" name="TextBox 6"/>
          <p:cNvSpPr txBox="1"/>
          <p:nvPr/>
        </p:nvSpPr>
        <p:spPr>
          <a:xfrm>
            <a:off x="731520" y="6309360"/>
            <a:ext cx="7315200" cy="320040"/>
          </a:xfrm>
          <a:prstGeom prst="rect">
            <a:avLst/>
          </a:prstGeom>
          <a:noFill/>
        </p:spPr>
        <p:txBody>
          <a:bodyPr wrap="square">
            <a:spAutoFit/>
          </a:bodyPr>
          <a:lstStyle/>
          <a:p>
            <a:r>
              <a:rPr sz="900">
                <a:solidFill>
                  <a:srgbClr val="6B7280"/>
                </a:solidFill>
              </a:rPr>
              <a:t>AI in Business · week 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731520" y="566928"/>
            <a:ext cx="320040" cy="73152"/>
          </a:xfrm>
          <a:prstGeom prst="rect">
            <a:avLst/>
          </a:prstGeom>
          <a:solidFill>
            <a:srgbClr val="D4DB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411480"/>
            <a:ext cx="7315200" cy="365760"/>
          </a:xfrm>
          <a:prstGeom prst="rect">
            <a:avLst/>
          </a:prstGeom>
          <a:noFill/>
        </p:spPr>
        <p:txBody>
          <a:bodyPr wrap="square">
            <a:spAutoFit/>
          </a:bodyPr>
          <a:lstStyle/>
          <a:p>
            <a:r>
              <a:rPr sz="1100" b="1">
                <a:solidFill>
                  <a:srgbClr val="1A1A1A"/>
                </a:solidFill>
              </a:rPr>
              <a:t>DEBRIEF</a:t>
            </a:r>
          </a:p>
        </p:txBody>
      </p:sp>
      <p:sp>
        <p:nvSpPr>
          <p:cNvPr id="4" name="TextBox 3"/>
          <p:cNvSpPr txBox="1"/>
          <p:nvPr/>
        </p:nvSpPr>
        <p:spPr>
          <a:xfrm>
            <a:off x="9601200" y="411480"/>
            <a:ext cx="1828800" cy="365760"/>
          </a:xfrm>
          <a:prstGeom prst="rect">
            <a:avLst/>
          </a:prstGeom>
          <a:noFill/>
        </p:spPr>
        <p:txBody>
          <a:bodyPr wrap="square">
            <a:spAutoFit/>
          </a:bodyPr>
          <a:lstStyle/>
          <a:p>
            <a:pPr algn="r"/>
            <a:r>
              <a:rPr sz="1100">
                <a:solidFill>
                  <a:srgbClr val="6B7280"/>
                </a:solidFill>
              </a:rPr>
              <a:t>2 / 11</a:t>
            </a:r>
          </a:p>
        </p:txBody>
      </p:sp>
      <p:sp>
        <p:nvSpPr>
          <p:cNvPr id="5" name="TextBox 4"/>
          <p:cNvSpPr txBox="1"/>
          <p:nvPr/>
        </p:nvSpPr>
        <p:spPr>
          <a:xfrm>
            <a:off x="731520" y="914400"/>
            <a:ext cx="10698480" cy="1188720"/>
          </a:xfrm>
          <a:prstGeom prst="rect">
            <a:avLst/>
          </a:prstGeom>
          <a:noFill/>
        </p:spPr>
        <p:txBody>
          <a:bodyPr wrap="square">
            <a:spAutoFit/>
          </a:bodyPr>
          <a:lstStyle/>
          <a:p>
            <a:r>
              <a:rPr sz="3200" b="1">
                <a:solidFill>
                  <a:srgbClr val="111827"/>
                </a:solidFill>
              </a:rPr>
              <a:t>The experiment, debriefed</a:t>
            </a:r>
          </a:p>
        </p:txBody>
      </p:sp>
      <p:sp>
        <p:nvSpPr>
          <p:cNvPr id="6" name="TextBox 5"/>
          <p:cNvSpPr txBox="1"/>
          <p:nvPr/>
        </p:nvSpPr>
        <p:spPr>
          <a:xfrm>
            <a:off x="731520" y="2103120"/>
            <a:ext cx="10698480" cy="3931920"/>
          </a:xfrm>
          <a:prstGeom prst="rect">
            <a:avLst/>
          </a:prstGeom>
          <a:noFill/>
        </p:spPr>
        <p:txBody>
          <a:bodyPr wrap="square">
            <a:spAutoFit/>
          </a:bodyPr>
          <a:lstStyle/>
          <a:p>
            <a:pPr>
              <a:spcAft>
                <a:spcPts val="800"/>
              </a:spcAft>
            </a:pPr>
            <a:r>
              <a:rPr sz="1800" i="1">
                <a:solidFill>
                  <a:srgbClr val="6B7280"/>
                </a:solidFill>
              </a:rPr>
              <a:t>Added with the rest of the week 3 deck.</a:t>
            </a:r>
          </a:p>
        </p:txBody>
      </p:sp>
      <p:sp>
        <p:nvSpPr>
          <p:cNvPr id="7" name="TextBox 6"/>
          <p:cNvSpPr txBox="1"/>
          <p:nvPr/>
        </p:nvSpPr>
        <p:spPr>
          <a:xfrm>
            <a:off x="731520" y="6309360"/>
            <a:ext cx="7315200" cy="320040"/>
          </a:xfrm>
          <a:prstGeom prst="rect">
            <a:avLst/>
          </a:prstGeom>
          <a:noFill/>
        </p:spPr>
        <p:txBody>
          <a:bodyPr wrap="square">
            <a:spAutoFit/>
          </a:bodyPr>
          <a:lstStyle/>
          <a:p>
            <a:r>
              <a:rPr sz="900">
                <a:solidFill>
                  <a:srgbClr val="6B7280"/>
                </a:solidFill>
              </a:rPr>
              <a:t>AI in Business · week 3</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731520" y="566928"/>
            <a:ext cx="320040" cy="73152"/>
          </a:xfrm>
          <a:prstGeom prst="rect">
            <a:avLst/>
          </a:prstGeom>
          <a:solidFill>
            <a:srgbClr val="D4DB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411480"/>
            <a:ext cx="7315200" cy="365760"/>
          </a:xfrm>
          <a:prstGeom prst="rect">
            <a:avLst/>
          </a:prstGeom>
          <a:noFill/>
        </p:spPr>
        <p:txBody>
          <a:bodyPr wrap="square">
            <a:spAutoFit/>
          </a:bodyPr>
          <a:lstStyle/>
          <a:p>
            <a:r>
              <a:rPr sz="1100" b="1">
                <a:solidFill>
                  <a:srgbClr val="1A1A1A"/>
                </a:solidFill>
              </a:rPr>
              <a:t>RESEARCH METHODOLOGY</a:t>
            </a:r>
          </a:p>
        </p:txBody>
      </p:sp>
      <p:sp>
        <p:nvSpPr>
          <p:cNvPr id="4" name="TextBox 3"/>
          <p:cNvSpPr txBox="1"/>
          <p:nvPr/>
        </p:nvSpPr>
        <p:spPr>
          <a:xfrm>
            <a:off x="9601200" y="411480"/>
            <a:ext cx="1828800" cy="365760"/>
          </a:xfrm>
          <a:prstGeom prst="rect">
            <a:avLst/>
          </a:prstGeom>
          <a:noFill/>
        </p:spPr>
        <p:txBody>
          <a:bodyPr wrap="square">
            <a:spAutoFit/>
          </a:bodyPr>
          <a:lstStyle/>
          <a:p>
            <a:pPr algn="r"/>
            <a:r>
              <a:rPr sz="1100">
                <a:solidFill>
                  <a:srgbClr val="6B7280"/>
                </a:solidFill>
              </a:rPr>
              <a:t>3 / 11</a:t>
            </a:r>
          </a:p>
        </p:txBody>
      </p:sp>
      <p:sp>
        <p:nvSpPr>
          <p:cNvPr id="5" name="TextBox 4"/>
          <p:cNvSpPr txBox="1"/>
          <p:nvPr/>
        </p:nvSpPr>
        <p:spPr>
          <a:xfrm>
            <a:off x="731520" y="914400"/>
            <a:ext cx="10698480" cy="1188720"/>
          </a:xfrm>
          <a:prstGeom prst="rect">
            <a:avLst/>
          </a:prstGeom>
          <a:noFill/>
        </p:spPr>
        <p:txBody>
          <a:bodyPr wrap="square">
            <a:spAutoFit/>
          </a:bodyPr>
          <a:lstStyle/>
          <a:p>
            <a:r>
              <a:rPr sz="3200" b="1">
                <a:solidFill>
                  <a:srgbClr val="111827"/>
                </a:solidFill>
              </a:rPr>
              <a:t>Desk research gets a tool; field research gets new data</a:t>
            </a:r>
          </a:p>
        </p:txBody>
      </p:sp>
      <p:sp>
        <p:nvSpPr>
          <p:cNvPr id="6" name="TextBox 5"/>
          <p:cNvSpPr txBox="1"/>
          <p:nvPr/>
        </p:nvSpPr>
        <p:spPr>
          <a:xfrm>
            <a:off x="731520" y="2103120"/>
            <a:ext cx="5120640" cy="3931920"/>
          </a:xfrm>
          <a:prstGeom prst="rect">
            <a:avLst/>
          </a:prstGeom>
          <a:noFill/>
        </p:spPr>
        <p:txBody>
          <a:bodyPr wrap="square">
            <a:spAutoFit/>
          </a:bodyPr>
          <a:lstStyle/>
          <a:p>
            <a:pPr>
              <a:spcAft>
                <a:spcPts val="800"/>
              </a:spcAft>
            </a:pPr>
            <a:r>
              <a:rPr sz="1100" b="1">
                <a:solidFill>
                  <a:srgbClr val="4B5563"/>
                </a:solidFill>
              </a:rPr>
              <a:t>DESK RESEARCH</a:t>
            </a:r>
          </a:p>
          <a:p>
            <a:pPr>
              <a:spcAft>
                <a:spcPts val="800"/>
              </a:spcAft>
            </a:pPr>
            <a:r>
              <a:rPr sz="1800">
                <a:solidFill>
                  <a:srgbClr val="111827"/>
                </a:solidFill>
              </a:rPr>
              <a:t>A new way of working: you design the tool that helps you.</a:t>
            </a:r>
          </a:p>
        </p:txBody>
      </p:sp>
      <p:sp>
        <p:nvSpPr>
          <p:cNvPr id="7" name="TextBox 6"/>
          <p:cNvSpPr txBox="1"/>
          <p:nvPr/>
        </p:nvSpPr>
        <p:spPr>
          <a:xfrm>
            <a:off x="6309360" y="2103120"/>
            <a:ext cx="5120640" cy="3931920"/>
          </a:xfrm>
          <a:prstGeom prst="rect">
            <a:avLst/>
          </a:prstGeom>
          <a:noFill/>
        </p:spPr>
        <p:txBody>
          <a:bodyPr wrap="square">
            <a:spAutoFit/>
          </a:bodyPr>
          <a:lstStyle/>
          <a:p>
            <a:pPr>
              <a:spcAft>
                <a:spcPts val="800"/>
              </a:spcAft>
            </a:pPr>
            <a:r>
              <a:rPr sz="1100" b="1">
                <a:solidFill>
                  <a:srgbClr val="4B5563"/>
                </a:solidFill>
              </a:rPr>
              <a:t>FIELD RESEARCH</a:t>
            </a:r>
          </a:p>
          <a:p>
            <a:pPr>
              <a:spcAft>
                <a:spcPts val="800"/>
              </a:spcAft>
            </a:pPr>
            <a:r>
              <a:rPr sz="1800">
                <a:solidFill>
                  <a:srgbClr val="111827"/>
                </a:solidFill>
              </a:rPr>
              <a:t>New data, external validation, contact with your target audience.</a:t>
            </a:r>
          </a:p>
        </p:txBody>
      </p:sp>
      <p:sp>
        <p:nvSpPr>
          <p:cNvPr id="8" name="TextBox 7"/>
          <p:cNvSpPr txBox="1"/>
          <p:nvPr/>
        </p:nvSpPr>
        <p:spPr>
          <a:xfrm>
            <a:off x="731520" y="6309360"/>
            <a:ext cx="7315200" cy="320040"/>
          </a:xfrm>
          <a:prstGeom prst="rect">
            <a:avLst/>
          </a:prstGeom>
          <a:noFill/>
        </p:spPr>
        <p:txBody>
          <a:bodyPr wrap="square">
            <a:spAutoFit/>
          </a:bodyPr>
          <a:lstStyle/>
          <a:p>
            <a:r>
              <a:rPr sz="900">
                <a:solidFill>
                  <a:srgbClr val="6B7280"/>
                </a:solidFill>
              </a:rPr>
              <a:t>AI in Business · week 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731520" y="566928"/>
            <a:ext cx="320040" cy="73152"/>
          </a:xfrm>
          <a:prstGeom prst="rect">
            <a:avLst/>
          </a:prstGeom>
          <a:solidFill>
            <a:srgbClr val="D4DB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411480"/>
            <a:ext cx="7315200" cy="365760"/>
          </a:xfrm>
          <a:prstGeom prst="rect">
            <a:avLst/>
          </a:prstGeom>
          <a:noFill/>
        </p:spPr>
        <p:txBody>
          <a:bodyPr wrap="square">
            <a:spAutoFit/>
          </a:bodyPr>
          <a:lstStyle/>
          <a:p>
            <a:r>
              <a:rPr sz="1100" b="1">
                <a:solidFill>
                  <a:srgbClr val="1A1A1A"/>
                </a:solidFill>
              </a:rPr>
              <a:t>RESEARCH METHODOLOGY</a:t>
            </a:r>
          </a:p>
        </p:txBody>
      </p:sp>
      <p:sp>
        <p:nvSpPr>
          <p:cNvPr id="4" name="TextBox 3"/>
          <p:cNvSpPr txBox="1"/>
          <p:nvPr/>
        </p:nvSpPr>
        <p:spPr>
          <a:xfrm>
            <a:off x="9601200" y="411480"/>
            <a:ext cx="1828800" cy="365760"/>
          </a:xfrm>
          <a:prstGeom prst="rect">
            <a:avLst/>
          </a:prstGeom>
          <a:noFill/>
        </p:spPr>
        <p:txBody>
          <a:bodyPr wrap="square">
            <a:spAutoFit/>
          </a:bodyPr>
          <a:lstStyle/>
          <a:p>
            <a:pPr algn="r"/>
            <a:r>
              <a:rPr sz="1100">
                <a:solidFill>
                  <a:srgbClr val="6B7280"/>
                </a:solidFill>
              </a:rPr>
              <a:t>4 / 11</a:t>
            </a:r>
          </a:p>
        </p:txBody>
      </p:sp>
      <p:sp>
        <p:nvSpPr>
          <p:cNvPr id="5" name="TextBox 4"/>
          <p:cNvSpPr txBox="1"/>
          <p:nvPr/>
        </p:nvSpPr>
        <p:spPr>
          <a:xfrm>
            <a:off x="731520" y="914400"/>
            <a:ext cx="10698480" cy="1188720"/>
          </a:xfrm>
          <a:prstGeom prst="rect">
            <a:avLst/>
          </a:prstGeom>
          <a:noFill/>
        </p:spPr>
        <p:txBody>
          <a:bodyPr wrap="square">
            <a:spAutoFit/>
          </a:bodyPr>
          <a:lstStyle/>
          <a:p>
            <a:r>
              <a:rPr sz="3200" b="1">
                <a:solidFill>
                  <a:srgbClr val="111827"/>
                </a:solidFill>
              </a:rPr>
              <a:t>How do you create value in desk and field research?</a:t>
            </a:r>
          </a:p>
        </p:txBody>
      </p:sp>
      <p:sp>
        <p:nvSpPr>
          <p:cNvPr id="6" name="TextBox 5"/>
          <p:cNvSpPr txBox="1"/>
          <p:nvPr/>
        </p:nvSpPr>
        <p:spPr>
          <a:xfrm>
            <a:off x="731520" y="2103120"/>
            <a:ext cx="5120640" cy="3931920"/>
          </a:xfrm>
          <a:prstGeom prst="rect">
            <a:avLst/>
          </a:prstGeom>
          <a:noFill/>
        </p:spPr>
        <p:txBody>
          <a:bodyPr wrap="square">
            <a:spAutoFit/>
          </a:bodyPr>
          <a:lstStyle/>
          <a:p>
            <a:pPr>
              <a:spcAft>
                <a:spcPts val="800"/>
              </a:spcAft>
            </a:pPr>
            <a:r>
              <a:rPr sz="1100" b="1">
                <a:solidFill>
                  <a:srgbClr val="4B5563"/>
                </a:solidFill>
              </a:rPr>
              <a:t>DESK RESEARCH</a:t>
            </a:r>
          </a:p>
          <a:p>
            <a:pPr>
              <a:spcAft>
                <a:spcPts val="800"/>
              </a:spcAft>
            </a:pPr>
            <a:r>
              <a:rPr sz="1800">
                <a:solidFill>
                  <a:srgbClr val="111827"/>
                </a:solidFill>
              </a:rPr>
              <a:t>•  </a:t>
            </a:r>
            <a:r>
              <a:rPr sz="1800" b="1">
                <a:solidFill>
                  <a:srgbClr val="111827"/>
                </a:solidFill>
              </a:rPr>
              <a:t>Reliable?</a:t>
            </a:r>
            <a:r>
              <a:rPr sz="1800">
                <a:solidFill>
                  <a:srgbClr val="111827"/>
                </a:solidFill>
              </a:rPr>
              <a:t> Same result if you run it again.</a:t>
            </a:r>
          </a:p>
          <a:p>
            <a:pPr>
              <a:spcAft>
                <a:spcPts val="800"/>
              </a:spcAft>
            </a:pPr>
            <a:r>
              <a:rPr sz="1800">
                <a:solidFill>
                  <a:srgbClr val="111827"/>
                </a:solidFill>
              </a:rPr>
              <a:t>•  </a:t>
            </a:r>
            <a:r>
              <a:rPr sz="1800" b="1">
                <a:solidFill>
                  <a:srgbClr val="111827"/>
                </a:solidFill>
              </a:rPr>
              <a:t>Valid?</a:t>
            </a:r>
            <a:r>
              <a:rPr sz="1800">
                <a:solidFill>
                  <a:srgbClr val="111827"/>
                </a:solidFill>
              </a:rPr>
              <a:t> Measures what it claims to.</a:t>
            </a:r>
          </a:p>
          <a:p>
            <a:pPr>
              <a:spcAft>
                <a:spcPts val="800"/>
              </a:spcAft>
            </a:pPr>
            <a:r>
              <a:rPr sz="1800">
                <a:solidFill>
                  <a:srgbClr val="111827"/>
                </a:solidFill>
              </a:rPr>
              <a:t>•  </a:t>
            </a:r>
            <a:r>
              <a:rPr sz="1800" b="1">
                <a:solidFill>
                  <a:srgbClr val="111827"/>
                </a:solidFill>
              </a:rPr>
              <a:t>Transparent?</a:t>
            </a:r>
            <a:r>
              <a:rPr sz="1800">
                <a:solidFill>
                  <a:srgbClr val="111827"/>
                </a:solidFill>
              </a:rPr>
              <a:t> You can show how it works.</a:t>
            </a:r>
          </a:p>
        </p:txBody>
      </p:sp>
      <p:sp>
        <p:nvSpPr>
          <p:cNvPr id="7" name="TextBox 6"/>
          <p:cNvSpPr txBox="1"/>
          <p:nvPr/>
        </p:nvSpPr>
        <p:spPr>
          <a:xfrm>
            <a:off x="6309360" y="2103120"/>
            <a:ext cx="5120640" cy="3931920"/>
          </a:xfrm>
          <a:prstGeom prst="rect">
            <a:avLst/>
          </a:prstGeom>
          <a:noFill/>
        </p:spPr>
        <p:txBody>
          <a:bodyPr wrap="square">
            <a:spAutoFit/>
          </a:bodyPr>
          <a:lstStyle/>
          <a:p>
            <a:pPr>
              <a:spcAft>
                <a:spcPts val="800"/>
              </a:spcAft>
            </a:pPr>
            <a:r>
              <a:rPr sz="1100" b="1">
                <a:solidFill>
                  <a:srgbClr val="4B5563"/>
                </a:solidFill>
              </a:rPr>
              <a:t>FIELD RESEARCH</a:t>
            </a:r>
          </a:p>
          <a:p>
            <a:pPr>
              <a:spcAft>
                <a:spcPts val="800"/>
              </a:spcAft>
            </a:pPr>
            <a:r>
              <a:rPr sz="1800" b="1">
                <a:solidFill>
                  <a:srgbClr val="111827"/>
                </a:solidFill>
              </a:rPr>
              <a:t>Relevance?</a:t>
            </a:r>
            <a:r>
              <a:rPr sz="1800">
                <a:solidFill>
                  <a:srgbClr val="111827"/>
                </a:solidFill>
              </a:rPr>
              <a:t> What your case study says beyond itself.</a:t>
            </a:r>
          </a:p>
        </p:txBody>
      </p:sp>
      <p:sp>
        <p:nvSpPr>
          <p:cNvPr id="8" name="TextBox 7"/>
          <p:cNvSpPr txBox="1"/>
          <p:nvPr/>
        </p:nvSpPr>
        <p:spPr>
          <a:xfrm>
            <a:off x="731520" y="6309360"/>
            <a:ext cx="7315200" cy="320040"/>
          </a:xfrm>
          <a:prstGeom prst="rect">
            <a:avLst/>
          </a:prstGeom>
          <a:noFill/>
        </p:spPr>
        <p:txBody>
          <a:bodyPr wrap="square">
            <a:spAutoFit/>
          </a:bodyPr>
          <a:lstStyle/>
          <a:p>
            <a:r>
              <a:rPr sz="900">
                <a:solidFill>
                  <a:srgbClr val="6B7280"/>
                </a:solidFill>
              </a:rPr>
              <a:t>AI in Business · week 3</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731520" y="566928"/>
            <a:ext cx="320040" cy="73152"/>
          </a:xfrm>
          <a:prstGeom prst="rect">
            <a:avLst/>
          </a:prstGeom>
          <a:solidFill>
            <a:srgbClr val="D4DB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411480"/>
            <a:ext cx="7315200" cy="365760"/>
          </a:xfrm>
          <a:prstGeom prst="rect">
            <a:avLst/>
          </a:prstGeom>
          <a:noFill/>
        </p:spPr>
        <p:txBody>
          <a:bodyPr wrap="square">
            <a:spAutoFit/>
          </a:bodyPr>
          <a:lstStyle/>
          <a:p>
            <a:r>
              <a:rPr sz="1100" b="1">
                <a:solidFill>
                  <a:srgbClr val="1A1A1A"/>
                </a:solidFill>
              </a:rPr>
              <a:t>RESEARCH METHODOLOGY</a:t>
            </a:r>
          </a:p>
        </p:txBody>
      </p:sp>
      <p:sp>
        <p:nvSpPr>
          <p:cNvPr id="4" name="TextBox 3"/>
          <p:cNvSpPr txBox="1"/>
          <p:nvPr/>
        </p:nvSpPr>
        <p:spPr>
          <a:xfrm>
            <a:off x="9601200" y="411480"/>
            <a:ext cx="1828800" cy="365760"/>
          </a:xfrm>
          <a:prstGeom prst="rect">
            <a:avLst/>
          </a:prstGeom>
          <a:noFill/>
        </p:spPr>
        <p:txBody>
          <a:bodyPr wrap="square">
            <a:spAutoFit/>
          </a:bodyPr>
          <a:lstStyle/>
          <a:p>
            <a:pPr algn="r"/>
            <a:r>
              <a:rPr sz="1100">
                <a:solidFill>
                  <a:srgbClr val="6B7280"/>
                </a:solidFill>
              </a:rPr>
              <a:t>5 / 11</a:t>
            </a:r>
          </a:p>
        </p:txBody>
      </p:sp>
      <p:sp>
        <p:nvSpPr>
          <p:cNvPr id="5" name="TextBox 4"/>
          <p:cNvSpPr txBox="1"/>
          <p:nvPr/>
        </p:nvSpPr>
        <p:spPr>
          <a:xfrm>
            <a:off x="731520" y="914400"/>
            <a:ext cx="10698480" cy="1188720"/>
          </a:xfrm>
          <a:prstGeom prst="rect">
            <a:avLst/>
          </a:prstGeom>
          <a:noFill/>
        </p:spPr>
        <p:txBody>
          <a:bodyPr wrap="square">
            <a:spAutoFit/>
          </a:bodyPr>
          <a:lstStyle/>
          <a:p>
            <a:r>
              <a:rPr sz="3200" b="1">
                <a:solidFill>
                  <a:srgbClr val="111827"/>
                </a:solidFill>
              </a:rPr>
              <a:t>Reliability, validity, transparency — your quality criteria</a:t>
            </a:r>
          </a:p>
        </p:txBody>
      </p:sp>
      <p:sp>
        <p:nvSpPr>
          <p:cNvPr id="6" name="TextBox 5"/>
          <p:cNvSpPr txBox="1"/>
          <p:nvPr/>
        </p:nvSpPr>
        <p:spPr>
          <a:xfrm>
            <a:off x="731520" y="2103120"/>
            <a:ext cx="10698480" cy="3931920"/>
          </a:xfrm>
          <a:prstGeom prst="rect">
            <a:avLst/>
          </a:prstGeom>
          <a:noFill/>
        </p:spPr>
        <p:txBody>
          <a:bodyPr wrap="square">
            <a:spAutoFit/>
          </a:bodyPr>
          <a:lstStyle/>
          <a:p>
            <a:pPr>
              <a:spcAft>
                <a:spcPts val="800"/>
              </a:spcAft>
            </a:pPr>
            <a:r>
              <a:rPr sz="1800">
                <a:solidFill>
                  <a:srgbClr val="111827"/>
                </a:solidFill>
              </a:rPr>
              <a:t>What changes when you work with AI?</a:t>
            </a:r>
          </a:p>
        </p:txBody>
      </p:sp>
      <p:sp>
        <p:nvSpPr>
          <p:cNvPr id="7" name="TextBox 6"/>
          <p:cNvSpPr txBox="1"/>
          <p:nvPr/>
        </p:nvSpPr>
        <p:spPr>
          <a:xfrm>
            <a:off x="731520" y="6309360"/>
            <a:ext cx="7315200" cy="320040"/>
          </a:xfrm>
          <a:prstGeom prst="rect">
            <a:avLst/>
          </a:prstGeom>
          <a:noFill/>
        </p:spPr>
        <p:txBody>
          <a:bodyPr wrap="square">
            <a:spAutoFit/>
          </a:bodyPr>
          <a:lstStyle/>
          <a:p>
            <a:r>
              <a:rPr sz="900">
                <a:solidFill>
                  <a:srgbClr val="6B7280"/>
                </a:solidFill>
              </a:rPr>
              <a:t>AI in Business · week 3</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731520" y="566928"/>
            <a:ext cx="320040" cy="73152"/>
          </a:xfrm>
          <a:prstGeom prst="rect">
            <a:avLst/>
          </a:prstGeom>
          <a:solidFill>
            <a:srgbClr val="D4DB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411480"/>
            <a:ext cx="7315200" cy="365760"/>
          </a:xfrm>
          <a:prstGeom prst="rect">
            <a:avLst/>
          </a:prstGeom>
          <a:noFill/>
        </p:spPr>
        <p:txBody>
          <a:bodyPr wrap="square">
            <a:spAutoFit/>
          </a:bodyPr>
          <a:lstStyle/>
          <a:p>
            <a:r>
              <a:rPr sz="1100" b="1">
                <a:solidFill>
                  <a:srgbClr val="1A1A1A"/>
                </a:solidFill>
              </a:rPr>
              <a:t>RESEARCH METHODOLOGY</a:t>
            </a:r>
          </a:p>
        </p:txBody>
      </p:sp>
      <p:sp>
        <p:nvSpPr>
          <p:cNvPr id="4" name="TextBox 3"/>
          <p:cNvSpPr txBox="1"/>
          <p:nvPr/>
        </p:nvSpPr>
        <p:spPr>
          <a:xfrm>
            <a:off x="9601200" y="411480"/>
            <a:ext cx="1828800" cy="365760"/>
          </a:xfrm>
          <a:prstGeom prst="rect">
            <a:avLst/>
          </a:prstGeom>
          <a:noFill/>
        </p:spPr>
        <p:txBody>
          <a:bodyPr wrap="square">
            <a:spAutoFit/>
          </a:bodyPr>
          <a:lstStyle/>
          <a:p>
            <a:pPr algn="r"/>
            <a:r>
              <a:rPr sz="1100">
                <a:solidFill>
                  <a:srgbClr val="6B7280"/>
                </a:solidFill>
              </a:rPr>
              <a:t>6 / 11</a:t>
            </a:r>
          </a:p>
        </p:txBody>
      </p:sp>
      <p:sp>
        <p:nvSpPr>
          <p:cNvPr id="5" name="TextBox 4"/>
          <p:cNvSpPr txBox="1"/>
          <p:nvPr/>
        </p:nvSpPr>
        <p:spPr>
          <a:xfrm>
            <a:off x="731520" y="914400"/>
            <a:ext cx="10698480" cy="1188720"/>
          </a:xfrm>
          <a:prstGeom prst="rect">
            <a:avLst/>
          </a:prstGeom>
          <a:noFill/>
        </p:spPr>
        <p:txBody>
          <a:bodyPr wrap="square">
            <a:spAutoFit/>
          </a:bodyPr>
          <a:lstStyle/>
          <a:p>
            <a:r>
              <a:rPr sz="3200" b="1">
                <a:solidFill>
                  <a:srgbClr val="111827"/>
                </a:solidFill>
              </a:rPr>
              <a:t>Discussion: your first handbook page</a:t>
            </a:r>
          </a:p>
        </p:txBody>
      </p:sp>
      <p:sp>
        <p:nvSpPr>
          <p:cNvPr id="6" name="TextBox 5"/>
          <p:cNvSpPr txBox="1"/>
          <p:nvPr/>
        </p:nvSpPr>
        <p:spPr>
          <a:xfrm>
            <a:off x="731520" y="2103120"/>
            <a:ext cx="10698480" cy="3931920"/>
          </a:xfrm>
          <a:prstGeom prst="rect">
            <a:avLst/>
          </a:prstGeom>
          <a:noFill/>
        </p:spPr>
        <p:txBody>
          <a:bodyPr wrap="square">
            <a:spAutoFit/>
          </a:bodyPr>
          <a:lstStyle/>
          <a:p>
            <a:pPr>
              <a:spcAft>
                <a:spcPts val="800"/>
              </a:spcAft>
            </a:pPr>
            <a:r>
              <a:rPr sz="1800">
                <a:solidFill>
                  <a:srgbClr val="111827"/>
                </a:solidFill>
              </a:rPr>
              <a:t>•  </a:t>
            </a:r>
            <a:r>
              <a:rPr sz="1800" b="1">
                <a:solidFill>
                  <a:srgbClr val="111827"/>
                </a:solidFill>
              </a:rPr>
              <a:t>Search strategy.</a:t>
            </a:r>
            <a:r>
              <a:rPr sz="1800">
                <a:solidFill>
                  <a:srgbClr val="111827"/>
                </a:solidFill>
              </a:rPr>
              <a:t> How did you use it in the tool?</a:t>
            </a:r>
          </a:p>
          <a:p>
            <a:pPr>
              <a:spcAft>
                <a:spcPts val="800"/>
              </a:spcAft>
            </a:pPr>
            <a:r>
              <a:rPr sz="1800">
                <a:solidFill>
                  <a:srgbClr val="111827"/>
                </a:solidFill>
              </a:rPr>
              <a:t>•  </a:t>
            </a:r>
            <a:r>
              <a:rPr sz="1800" b="1">
                <a:solidFill>
                  <a:srgbClr val="111827"/>
                </a:solidFill>
              </a:rPr>
              <a:t>Quality criteria.</a:t>
            </a:r>
            <a:r>
              <a:rPr sz="1800">
                <a:solidFill>
                  <a:srgbClr val="111827"/>
                </a:solidFill>
              </a:rPr>
              <a:t> Were they respected?</a:t>
            </a:r>
          </a:p>
          <a:p>
            <a:pPr>
              <a:spcAft>
                <a:spcPts val="800"/>
              </a:spcAft>
            </a:pPr>
            <a:r>
              <a:rPr sz="1800">
                <a:solidFill>
                  <a:srgbClr val="111827"/>
                </a:solidFill>
              </a:rPr>
              <a:t>•  </a:t>
            </a:r>
            <a:r>
              <a:rPr sz="1800" b="1">
                <a:solidFill>
                  <a:srgbClr val="111827"/>
                </a:solidFill>
              </a:rPr>
              <a:t>Output quality.</a:t>
            </a:r>
            <a:r>
              <a:rPr sz="1800">
                <a:solidFill>
                  <a:srgbClr val="111827"/>
                </a:solidFill>
              </a:rPr>
              <a:t> How would you rate it today?</a:t>
            </a:r>
          </a:p>
        </p:txBody>
      </p:sp>
      <p:sp>
        <p:nvSpPr>
          <p:cNvPr id="7" name="TextBox 6"/>
          <p:cNvSpPr txBox="1"/>
          <p:nvPr/>
        </p:nvSpPr>
        <p:spPr>
          <a:xfrm>
            <a:off x="731520" y="6309360"/>
            <a:ext cx="7315200" cy="320040"/>
          </a:xfrm>
          <a:prstGeom prst="rect">
            <a:avLst/>
          </a:prstGeom>
          <a:noFill/>
        </p:spPr>
        <p:txBody>
          <a:bodyPr wrap="square">
            <a:spAutoFit/>
          </a:bodyPr>
          <a:lstStyle/>
          <a:p>
            <a:r>
              <a:rPr sz="900">
                <a:solidFill>
                  <a:srgbClr val="6B7280"/>
                </a:solidFill>
              </a:rPr>
              <a:t>AI in Business · week 3</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731520" y="566928"/>
            <a:ext cx="320040" cy="73152"/>
          </a:xfrm>
          <a:prstGeom prst="rect">
            <a:avLst/>
          </a:prstGeom>
          <a:solidFill>
            <a:srgbClr val="D4DB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411480"/>
            <a:ext cx="7315200" cy="365760"/>
          </a:xfrm>
          <a:prstGeom prst="rect">
            <a:avLst/>
          </a:prstGeom>
          <a:noFill/>
        </p:spPr>
        <p:txBody>
          <a:bodyPr wrap="square">
            <a:spAutoFit/>
          </a:bodyPr>
          <a:lstStyle/>
          <a:p>
            <a:r>
              <a:rPr sz="1100" b="1">
                <a:solidFill>
                  <a:srgbClr val="1A1A1A"/>
                </a:solidFill>
              </a:rPr>
              <a:t>RESEARCH METHODOLOGY</a:t>
            </a:r>
          </a:p>
        </p:txBody>
      </p:sp>
      <p:sp>
        <p:nvSpPr>
          <p:cNvPr id="4" name="TextBox 3"/>
          <p:cNvSpPr txBox="1"/>
          <p:nvPr/>
        </p:nvSpPr>
        <p:spPr>
          <a:xfrm>
            <a:off x="9601200" y="411480"/>
            <a:ext cx="1828800" cy="365760"/>
          </a:xfrm>
          <a:prstGeom prst="rect">
            <a:avLst/>
          </a:prstGeom>
          <a:noFill/>
        </p:spPr>
        <p:txBody>
          <a:bodyPr wrap="square">
            <a:spAutoFit/>
          </a:bodyPr>
          <a:lstStyle/>
          <a:p>
            <a:pPr algn="r"/>
            <a:r>
              <a:rPr sz="1100">
                <a:solidFill>
                  <a:srgbClr val="6B7280"/>
                </a:solidFill>
              </a:rPr>
              <a:t>7 / 11</a:t>
            </a:r>
          </a:p>
        </p:txBody>
      </p:sp>
      <p:sp>
        <p:nvSpPr>
          <p:cNvPr id="5" name="TextBox 4"/>
          <p:cNvSpPr txBox="1"/>
          <p:nvPr/>
        </p:nvSpPr>
        <p:spPr>
          <a:xfrm>
            <a:off x="731520" y="914400"/>
            <a:ext cx="10698480" cy="1188720"/>
          </a:xfrm>
          <a:prstGeom prst="rect">
            <a:avLst/>
          </a:prstGeom>
          <a:noFill/>
        </p:spPr>
        <p:txBody>
          <a:bodyPr wrap="square">
            <a:spAutoFit/>
          </a:bodyPr>
          <a:lstStyle/>
          <a:p>
            <a:r>
              <a:rPr sz="3200" b="1">
                <a:solidFill>
                  <a:srgbClr val="111827"/>
                </a:solidFill>
              </a:rPr>
              <a:t>Trust splits three ways: the tool, you, and ownership</a:t>
            </a:r>
          </a:p>
        </p:txBody>
      </p:sp>
      <p:sp>
        <p:nvSpPr>
          <p:cNvPr id="6" name="TextBox 5"/>
          <p:cNvSpPr txBox="1"/>
          <p:nvPr/>
        </p:nvSpPr>
        <p:spPr>
          <a:xfrm>
            <a:off x="731520" y="2103120"/>
            <a:ext cx="10698480" cy="3931920"/>
          </a:xfrm>
          <a:prstGeom prst="rect">
            <a:avLst/>
          </a:prstGeom>
          <a:noFill/>
        </p:spPr>
        <p:txBody>
          <a:bodyPr wrap="square">
            <a:spAutoFit/>
          </a:bodyPr>
          <a:lstStyle/>
          <a:p>
            <a:pPr>
              <a:spcAft>
                <a:spcPts val="800"/>
              </a:spcAft>
            </a:pPr>
            <a:r>
              <a:rPr sz="1800">
                <a:solidFill>
                  <a:srgbClr val="111827"/>
                </a:solidFill>
              </a:rPr>
              <a:t>•  </a:t>
            </a:r>
            <a:r>
              <a:rPr sz="1800" b="1">
                <a:solidFill>
                  <a:srgbClr val="111827"/>
                </a:solidFill>
              </a:rPr>
              <a:t>The tool.</a:t>
            </a:r>
            <a:r>
              <a:rPr sz="1800">
                <a:solidFill>
                  <a:srgbClr val="111827"/>
                </a:solidFill>
              </a:rPr>
              <a:t> Can you trust what it produces?</a:t>
            </a:r>
          </a:p>
          <a:p>
            <a:pPr>
              <a:spcAft>
                <a:spcPts val="800"/>
              </a:spcAft>
            </a:pPr>
            <a:r>
              <a:rPr sz="1800">
                <a:solidFill>
                  <a:srgbClr val="111827"/>
                </a:solidFill>
              </a:rPr>
              <a:t>•  </a:t>
            </a:r>
            <a:r>
              <a:rPr sz="1800" b="1">
                <a:solidFill>
                  <a:srgbClr val="111827"/>
                </a:solidFill>
              </a:rPr>
              <a:t>You.</a:t>
            </a:r>
            <a:r>
              <a:rPr sz="1800">
                <a:solidFill>
                  <a:srgbClr val="111827"/>
                </a:solidFill>
              </a:rPr>
              <a:t> Can you be trusted as the researcher?</a:t>
            </a:r>
          </a:p>
          <a:p>
            <a:pPr>
              <a:spcAft>
                <a:spcPts val="800"/>
              </a:spcAft>
            </a:pPr>
            <a:r>
              <a:rPr sz="1800">
                <a:solidFill>
                  <a:srgbClr val="111827"/>
                </a:solidFill>
              </a:rPr>
              <a:t>•  </a:t>
            </a:r>
            <a:r>
              <a:rPr sz="1800" b="1">
                <a:solidFill>
                  <a:srgbClr val="111827"/>
                </a:solidFill>
              </a:rPr>
              <a:t>Ownership.</a:t>
            </a:r>
            <a:r>
              <a:rPr sz="1800">
                <a:solidFill>
                  <a:srgbClr val="111827"/>
                </a:solidFill>
              </a:rPr>
              <a:t> Whose output is it?</a:t>
            </a:r>
          </a:p>
        </p:txBody>
      </p:sp>
      <p:sp>
        <p:nvSpPr>
          <p:cNvPr id="7" name="TextBox 6"/>
          <p:cNvSpPr txBox="1"/>
          <p:nvPr/>
        </p:nvSpPr>
        <p:spPr>
          <a:xfrm>
            <a:off x="731520" y="6309360"/>
            <a:ext cx="7315200" cy="320040"/>
          </a:xfrm>
          <a:prstGeom prst="rect">
            <a:avLst/>
          </a:prstGeom>
          <a:noFill/>
        </p:spPr>
        <p:txBody>
          <a:bodyPr wrap="square">
            <a:spAutoFit/>
          </a:bodyPr>
          <a:lstStyle/>
          <a:p>
            <a:r>
              <a:rPr sz="900">
                <a:solidFill>
                  <a:srgbClr val="6B7280"/>
                </a:solidFill>
              </a:rPr>
              <a:t>AI in Business · week 3</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731520" y="566928"/>
            <a:ext cx="320040" cy="73152"/>
          </a:xfrm>
          <a:prstGeom prst="rect">
            <a:avLst/>
          </a:prstGeom>
          <a:solidFill>
            <a:srgbClr val="D4DB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411480"/>
            <a:ext cx="7315200" cy="365760"/>
          </a:xfrm>
          <a:prstGeom prst="rect">
            <a:avLst/>
          </a:prstGeom>
          <a:noFill/>
        </p:spPr>
        <p:txBody>
          <a:bodyPr wrap="square">
            <a:spAutoFit/>
          </a:bodyPr>
          <a:lstStyle/>
          <a:p>
            <a:r>
              <a:rPr sz="1100" b="1">
                <a:solidFill>
                  <a:srgbClr val="1A1A1A"/>
                </a:solidFill>
              </a:rPr>
              <a:t>AI AGENTS</a:t>
            </a:r>
          </a:p>
        </p:txBody>
      </p:sp>
      <p:sp>
        <p:nvSpPr>
          <p:cNvPr id="4" name="TextBox 3"/>
          <p:cNvSpPr txBox="1"/>
          <p:nvPr/>
        </p:nvSpPr>
        <p:spPr>
          <a:xfrm>
            <a:off x="9601200" y="411480"/>
            <a:ext cx="1828800" cy="365760"/>
          </a:xfrm>
          <a:prstGeom prst="rect">
            <a:avLst/>
          </a:prstGeom>
          <a:noFill/>
        </p:spPr>
        <p:txBody>
          <a:bodyPr wrap="square">
            <a:spAutoFit/>
          </a:bodyPr>
          <a:lstStyle/>
          <a:p>
            <a:pPr algn="r"/>
            <a:r>
              <a:rPr sz="1100">
                <a:solidFill>
                  <a:srgbClr val="6B7280"/>
                </a:solidFill>
              </a:rPr>
              <a:t>8 / 11</a:t>
            </a:r>
          </a:p>
        </p:txBody>
      </p:sp>
      <p:sp>
        <p:nvSpPr>
          <p:cNvPr id="5" name="TextBox 4"/>
          <p:cNvSpPr txBox="1"/>
          <p:nvPr/>
        </p:nvSpPr>
        <p:spPr>
          <a:xfrm>
            <a:off x="731520" y="914400"/>
            <a:ext cx="10698480" cy="1188720"/>
          </a:xfrm>
          <a:prstGeom prst="rect">
            <a:avLst/>
          </a:prstGeom>
          <a:noFill/>
        </p:spPr>
        <p:txBody>
          <a:bodyPr wrap="square">
            <a:spAutoFit/>
          </a:bodyPr>
          <a:lstStyle/>
          <a:p>
            <a:r>
              <a:rPr sz="3200" b="1">
                <a:solidFill>
                  <a:srgbClr val="111827"/>
                </a:solidFill>
              </a:rPr>
              <a:t>You have used an agent since week 1</a:t>
            </a:r>
          </a:p>
        </p:txBody>
      </p:sp>
      <p:sp>
        <p:nvSpPr>
          <p:cNvPr id="6" name="TextBox 5"/>
          <p:cNvSpPr txBox="1"/>
          <p:nvPr/>
        </p:nvSpPr>
        <p:spPr>
          <a:xfrm>
            <a:off x="731520" y="2103120"/>
            <a:ext cx="10698480" cy="3931920"/>
          </a:xfrm>
          <a:prstGeom prst="rect">
            <a:avLst/>
          </a:prstGeom>
          <a:noFill/>
        </p:spPr>
        <p:txBody>
          <a:bodyPr wrap="square">
            <a:spAutoFit/>
          </a:bodyPr>
          <a:lstStyle/>
          <a:p>
            <a:pPr>
              <a:spcAft>
                <a:spcPts val="800"/>
              </a:spcAft>
            </a:pPr>
            <a:r>
              <a:rPr sz="1800" b="1">
                <a:solidFill>
                  <a:srgbClr val="111827"/>
                </a:solidFill>
                <a:hlinkClick r:id="rId2"/>
              </a:rPr>
              <a:t>Agent</a:t>
            </a:r>
            <a:r>
              <a:rPr sz="1800" b="1">
                <a:solidFill>
                  <a:srgbClr val="111827"/>
                </a:solidFill>
              </a:rPr>
              <a:t>:</a:t>
            </a:r>
            <a:r>
              <a:rPr sz="1800">
                <a:solidFill>
                  <a:srgbClr val="111827"/>
                </a:solidFill>
              </a:rPr>
              <a:t> an LLM (large language model) using tools in a loop, towards a goal.</a:t>
            </a:r>
          </a:p>
          <a:p>
            <a:pPr>
              <a:spcAft>
                <a:spcPts val="800"/>
              </a:spcAft>
            </a:pPr>
            <a:r>
              <a:rPr sz="1800">
                <a:solidFill>
                  <a:srgbClr val="111827"/>
                </a:solidFill>
              </a:rPr>
              <a:t>•  </a:t>
            </a:r>
            <a:r>
              <a:rPr sz="1800" b="1">
                <a:solidFill>
                  <a:srgbClr val="111827"/>
                </a:solidFill>
              </a:rPr>
              <a:t>Workflow or agent?</a:t>
            </a:r>
            <a:r>
              <a:rPr sz="1800">
                <a:solidFill>
                  <a:srgbClr val="111827"/>
                </a:solidFill>
              </a:rPr>
              <a:t> Code or model: who picks the next step?</a:t>
            </a:r>
          </a:p>
          <a:p>
            <a:pPr>
              <a:spcAft>
                <a:spcPts val="800"/>
              </a:spcAft>
            </a:pPr>
            <a:r>
              <a:rPr sz="1800">
                <a:solidFill>
                  <a:srgbClr val="111827"/>
                </a:solidFill>
              </a:rPr>
              <a:t>•  </a:t>
            </a:r>
            <a:r>
              <a:rPr sz="1800" b="1">
                <a:solidFill>
                  <a:srgbClr val="111827"/>
                </a:solidFill>
              </a:rPr>
              <a:t>The loop:</a:t>
            </a:r>
            <a:r>
              <a:rPr sz="1800">
                <a:solidFill>
                  <a:srgbClr val="111827"/>
                </a:solidFill>
              </a:rPr>
              <a:t> reason, act, observe (ReAct).</a:t>
            </a:r>
          </a:p>
          <a:p>
            <a:pPr>
              <a:spcAft>
                <a:spcPts val="800"/>
              </a:spcAft>
            </a:pPr>
            <a:r>
              <a:rPr sz="1800">
                <a:solidFill>
                  <a:srgbClr val="111827"/>
                </a:solidFill>
              </a:rPr>
              <a:t>•  </a:t>
            </a:r>
            <a:r>
              <a:rPr sz="1800" b="1">
                <a:solidFill>
                  <a:srgbClr val="111827"/>
                </a:solidFill>
              </a:rPr>
              <a:t>The week 1 intern:</a:t>
            </a:r>
            <a:r>
              <a:rPr sz="1800">
                <a:solidFill>
                  <a:srgbClr val="111827"/>
                </a:solidFill>
              </a:rPr>
              <a:t> capable, needs oversight.</a:t>
            </a:r>
          </a:p>
        </p:txBody>
      </p:sp>
      <p:sp>
        <p:nvSpPr>
          <p:cNvPr id="7" name="TextBox 6"/>
          <p:cNvSpPr txBox="1"/>
          <p:nvPr/>
        </p:nvSpPr>
        <p:spPr>
          <a:xfrm>
            <a:off x="731520" y="6309360"/>
            <a:ext cx="7315200" cy="320040"/>
          </a:xfrm>
          <a:prstGeom prst="rect">
            <a:avLst/>
          </a:prstGeom>
          <a:noFill/>
        </p:spPr>
        <p:txBody>
          <a:bodyPr wrap="square">
            <a:spAutoFit/>
          </a:bodyPr>
          <a:lstStyle/>
          <a:p>
            <a:r>
              <a:rPr sz="900">
                <a:solidFill>
                  <a:srgbClr val="6B7280"/>
                </a:solidFill>
              </a:rPr>
              <a:t>AI in Business · week 3</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731520" y="566928"/>
            <a:ext cx="320040" cy="73152"/>
          </a:xfrm>
          <a:prstGeom prst="rect">
            <a:avLst/>
          </a:prstGeom>
          <a:solidFill>
            <a:srgbClr val="D4DB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411480"/>
            <a:ext cx="7315200" cy="365760"/>
          </a:xfrm>
          <a:prstGeom prst="rect">
            <a:avLst/>
          </a:prstGeom>
          <a:noFill/>
        </p:spPr>
        <p:txBody>
          <a:bodyPr wrap="square">
            <a:spAutoFit/>
          </a:bodyPr>
          <a:lstStyle/>
          <a:p>
            <a:r>
              <a:rPr sz="1100" b="1">
                <a:solidFill>
                  <a:srgbClr val="1A1A1A"/>
                </a:solidFill>
              </a:rPr>
              <a:t>AI AGENTS</a:t>
            </a:r>
          </a:p>
        </p:txBody>
      </p:sp>
      <p:sp>
        <p:nvSpPr>
          <p:cNvPr id="4" name="TextBox 3"/>
          <p:cNvSpPr txBox="1"/>
          <p:nvPr/>
        </p:nvSpPr>
        <p:spPr>
          <a:xfrm>
            <a:off x="9601200" y="411480"/>
            <a:ext cx="1828800" cy="365760"/>
          </a:xfrm>
          <a:prstGeom prst="rect">
            <a:avLst/>
          </a:prstGeom>
          <a:noFill/>
        </p:spPr>
        <p:txBody>
          <a:bodyPr wrap="square">
            <a:spAutoFit/>
          </a:bodyPr>
          <a:lstStyle/>
          <a:p>
            <a:pPr algn="r"/>
            <a:r>
              <a:rPr sz="1100">
                <a:solidFill>
                  <a:srgbClr val="6B7280"/>
                </a:solidFill>
              </a:rPr>
              <a:t>9 / 11</a:t>
            </a:r>
          </a:p>
        </p:txBody>
      </p:sp>
      <p:sp>
        <p:nvSpPr>
          <p:cNvPr id="5" name="TextBox 4"/>
          <p:cNvSpPr txBox="1"/>
          <p:nvPr/>
        </p:nvSpPr>
        <p:spPr>
          <a:xfrm>
            <a:off x="731520" y="914400"/>
            <a:ext cx="10698480" cy="1188720"/>
          </a:xfrm>
          <a:prstGeom prst="rect">
            <a:avLst/>
          </a:prstGeom>
          <a:noFill/>
        </p:spPr>
        <p:txBody>
          <a:bodyPr wrap="square">
            <a:spAutoFit/>
          </a:bodyPr>
          <a:lstStyle/>
          <a:p>
            <a:r>
              <a:rPr sz="3200" b="1">
                <a:solidFill>
                  <a:srgbClr val="111827"/>
                </a:solidFill>
              </a:rPr>
              <a:t>The model is rented; the harness is the part you own</a:t>
            </a:r>
          </a:p>
        </p:txBody>
      </p:sp>
      <p:sp>
        <p:nvSpPr>
          <p:cNvPr id="6" name="TextBox 5"/>
          <p:cNvSpPr txBox="1"/>
          <p:nvPr/>
        </p:nvSpPr>
        <p:spPr>
          <a:xfrm>
            <a:off x="731520" y="2103120"/>
            <a:ext cx="10698480" cy="3931920"/>
          </a:xfrm>
          <a:prstGeom prst="rect">
            <a:avLst/>
          </a:prstGeom>
          <a:noFill/>
        </p:spPr>
        <p:txBody>
          <a:bodyPr wrap="square">
            <a:spAutoFit/>
          </a:bodyPr>
          <a:lstStyle/>
          <a:p>
            <a:pPr>
              <a:spcAft>
                <a:spcPts val="800"/>
              </a:spcAft>
            </a:pPr>
            <a:r>
              <a:rPr sz="1800">
                <a:solidFill>
                  <a:srgbClr val="111827"/>
                </a:solidFill>
              </a:rPr>
              <a:t>•  </a:t>
            </a:r>
            <a:r>
              <a:rPr sz="1800" b="1">
                <a:solidFill>
                  <a:srgbClr val="111827"/>
                </a:solidFill>
              </a:rPr>
              <a:t>Harness:</a:t>
            </a:r>
            <a:r>
              <a:rPr sz="1800">
                <a:solidFill>
                  <a:srgbClr val="111827"/>
                </a:solidFill>
              </a:rPr>
              <a:t> the software around the model. Model as CPU, harness as </a:t>
            </a:r>
            <a:r>
              <a:rPr sz="1800">
                <a:solidFill>
                  <a:srgbClr val="111827"/>
                </a:solidFill>
                <a:hlinkClick r:id="rId2"/>
              </a:rPr>
              <a:t>operating system</a:t>
            </a:r>
            <a:r>
              <a:rPr sz="1800">
                <a:solidFill>
                  <a:srgbClr val="111827"/>
                </a:solidFill>
              </a:rPr>
              <a:t>.</a:t>
            </a:r>
          </a:p>
          <a:p>
            <a:pPr>
              <a:spcAft>
                <a:spcPts val="800"/>
              </a:spcAft>
            </a:pPr>
            <a:r>
              <a:rPr sz="1800">
                <a:solidFill>
                  <a:srgbClr val="111827"/>
                </a:solidFill>
              </a:rPr>
              <a:t>•  </a:t>
            </a:r>
            <a:r>
              <a:rPr sz="1800" b="1">
                <a:solidFill>
                  <a:srgbClr val="111827"/>
                </a:solidFill>
              </a:rPr>
              <a:t>This week’s choice:</a:t>
            </a:r>
            <a:r>
              <a:rPr sz="1800">
                <a:solidFill>
                  <a:srgbClr val="111827"/>
                </a:solidFill>
              </a:rPr>
              <a:t> where knowledge lives. RAG retrieves, LLM Wiki compiles, Fat Skills act — </a:t>
            </a:r>
            <a:r>
              <a:rPr sz="1800">
                <a:solidFill>
                  <a:srgbClr val="111827"/>
                </a:solidFill>
                <a:hlinkClick r:id="rId3"/>
              </a:rPr>
              <a:t>one question, four ways</a:t>
            </a:r>
            <a:r>
              <a:rPr sz="1800">
                <a:solidFill>
                  <a:srgbClr val="111827"/>
                </a:solidFill>
              </a:rPr>
              <a:t>.</a:t>
            </a:r>
          </a:p>
          <a:p>
            <a:pPr>
              <a:spcAft>
                <a:spcPts val="800"/>
              </a:spcAft>
            </a:pPr>
            <a:r>
              <a:rPr sz="1800">
                <a:solidFill>
                  <a:srgbClr val="111827"/>
                </a:solidFill>
              </a:rPr>
              <a:t>•  </a:t>
            </a:r>
            <a:r>
              <a:rPr sz="1800" b="1">
                <a:solidFill>
                  <a:srgbClr val="111827"/>
                </a:solidFill>
              </a:rPr>
              <a:t>Still ahead:</a:t>
            </a:r>
            <a:r>
              <a:rPr sz="1800">
                <a:solidFill>
                  <a:srgbClr val="111827"/>
                </a:solidFill>
              </a:rPr>
              <a:t> Contracts, Constraints, Compounding.</a:t>
            </a:r>
          </a:p>
        </p:txBody>
      </p:sp>
      <p:sp>
        <p:nvSpPr>
          <p:cNvPr id="7" name="TextBox 6"/>
          <p:cNvSpPr txBox="1"/>
          <p:nvPr/>
        </p:nvSpPr>
        <p:spPr>
          <a:xfrm>
            <a:off x="731520" y="6309360"/>
            <a:ext cx="7315200" cy="320040"/>
          </a:xfrm>
          <a:prstGeom prst="rect">
            <a:avLst/>
          </a:prstGeom>
          <a:noFill/>
        </p:spPr>
        <p:txBody>
          <a:bodyPr wrap="square">
            <a:spAutoFit/>
          </a:bodyPr>
          <a:lstStyle/>
          <a:p>
            <a:r>
              <a:rPr sz="900">
                <a:solidFill>
                  <a:srgbClr val="6B7280"/>
                </a:solidFill>
              </a:rPr>
              <a:t>AI in Business · week 3</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731520" y="566928"/>
            <a:ext cx="320040" cy="73152"/>
          </a:xfrm>
          <a:prstGeom prst="rect">
            <a:avLst/>
          </a:prstGeom>
          <a:solidFill>
            <a:srgbClr val="D4DB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411480"/>
            <a:ext cx="7315200" cy="365760"/>
          </a:xfrm>
          <a:prstGeom prst="rect">
            <a:avLst/>
          </a:prstGeom>
          <a:noFill/>
        </p:spPr>
        <p:txBody>
          <a:bodyPr wrap="square">
            <a:spAutoFit/>
          </a:bodyPr>
          <a:lstStyle/>
          <a:p>
            <a:r>
              <a:rPr sz="1100" b="1">
                <a:solidFill>
                  <a:srgbClr val="1A1A1A"/>
                </a:solidFill>
              </a:rPr>
              <a:t>AI AGENTS</a:t>
            </a:r>
          </a:p>
        </p:txBody>
      </p:sp>
      <p:sp>
        <p:nvSpPr>
          <p:cNvPr id="4" name="TextBox 3"/>
          <p:cNvSpPr txBox="1"/>
          <p:nvPr/>
        </p:nvSpPr>
        <p:spPr>
          <a:xfrm>
            <a:off x="9601200" y="411480"/>
            <a:ext cx="1828800" cy="365760"/>
          </a:xfrm>
          <a:prstGeom prst="rect">
            <a:avLst/>
          </a:prstGeom>
          <a:noFill/>
        </p:spPr>
        <p:txBody>
          <a:bodyPr wrap="square">
            <a:spAutoFit/>
          </a:bodyPr>
          <a:lstStyle/>
          <a:p>
            <a:pPr algn="r"/>
            <a:r>
              <a:rPr sz="1100">
                <a:solidFill>
                  <a:srgbClr val="6B7280"/>
                </a:solidFill>
              </a:rPr>
              <a:t>10 / 11</a:t>
            </a:r>
          </a:p>
        </p:txBody>
      </p:sp>
      <p:sp>
        <p:nvSpPr>
          <p:cNvPr id="5" name="TextBox 4"/>
          <p:cNvSpPr txBox="1"/>
          <p:nvPr/>
        </p:nvSpPr>
        <p:spPr>
          <a:xfrm>
            <a:off x="731520" y="914400"/>
            <a:ext cx="10698480" cy="1188720"/>
          </a:xfrm>
          <a:prstGeom prst="rect">
            <a:avLst/>
          </a:prstGeom>
          <a:noFill/>
        </p:spPr>
        <p:txBody>
          <a:bodyPr wrap="square">
            <a:spAutoFit/>
          </a:bodyPr>
          <a:lstStyle/>
          <a:p>
            <a:r>
              <a:rPr sz="3200" b="1">
                <a:solidFill>
                  <a:srgbClr val="111827"/>
                </a:solidFill>
              </a:rPr>
              <a:t>Trusting an agent splits three ways: data, output, people</a:t>
            </a:r>
          </a:p>
        </p:txBody>
      </p:sp>
      <p:sp>
        <p:nvSpPr>
          <p:cNvPr id="6" name="TextBox 5"/>
          <p:cNvSpPr txBox="1"/>
          <p:nvPr/>
        </p:nvSpPr>
        <p:spPr>
          <a:xfrm>
            <a:off x="731520" y="2103120"/>
            <a:ext cx="10698480" cy="3931920"/>
          </a:xfrm>
          <a:prstGeom prst="rect">
            <a:avLst/>
          </a:prstGeom>
          <a:noFill/>
        </p:spPr>
        <p:txBody>
          <a:bodyPr wrap="square">
            <a:spAutoFit/>
          </a:bodyPr>
          <a:lstStyle/>
          <a:p>
            <a:pPr>
              <a:spcAft>
                <a:spcPts val="800"/>
              </a:spcAft>
            </a:pPr>
            <a:r>
              <a:rPr sz="1800">
                <a:solidFill>
                  <a:srgbClr val="111827"/>
                </a:solidFill>
              </a:rPr>
              <a:t>•  </a:t>
            </a:r>
            <a:r>
              <a:rPr sz="1800" b="1">
                <a:solidFill>
                  <a:srgbClr val="111827"/>
                </a:solidFill>
              </a:rPr>
              <a:t>Data.</a:t>
            </a:r>
            <a:r>
              <a:rPr sz="1800">
                <a:solidFill>
                  <a:srgbClr val="111827"/>
                </a:solidFill>
              </a:rPr>
              <a:t> Rent the model, or run a small one in-house.</a:t>
            </a:r>
          </a:p>
          <a:p>
            <a:pPr>
              <a:spcAft>
                <a:spcPts val="800"/>
              </a:spcAft>
            </a:pPr>
            <a:r>
              <a:rPr sz="1800">
                <a:solidFill>
                  <a:srgbClr val="111827"/>
                </a:solidFill>
              </a:rPr>
              <a:t>•  </a:t>
            </a:r>
            <a:r>
              <a:rPr sz="1800" b="1">
                <a:solidFill>
                  <a:srgbClr val="111827"/>
                </a:solidFill>
              </a:rPr>
              <a:t>Output.</a:t>
            </a:r>
            <a:r>
              <a:rPr sz="1800">
                <a:solidFill>
                  <a:srgbClr val="111827"/>
                </a:solidFill>
              </a:rPr>
              <a:t> Users regret an agent that </a:t>
            </a:r>
            <a:r>
              <a:rPr sz="1800">
                <a:solidFill>
                  <a:srgbClr val="111827"/>
                </a:solidFill>
                <a:hlinkClick r:id="rId2"/>
              </a:rPr>
              <a:t>acted beyond what they authorised</a:t>
            </a:r>
            <a:r>
              <a:rPr sz="1800">
                <a:solidFill>
                  <a:srgbClr val="111827"/>
                </a:solidFill>
              </a:rPr>
              <a:t> — even when it was right.</a:t>
            </a:r>
          </a:p>
          <a:p>
            <a:pPr>
              <a:spcAft>
                <a:spcPts val="800"/>
              </a:spcAft>
            </a:pPr>
            <a:r>
              <a:rPr sz="1800">
                <a:solidFill>
                  <a:srgbClr val="111827"/>
                </a:solidFill>
              </a:rPr>
              <a:t>•  </a:t>
            </a:r>
            <a:r>
              <a:rPr sz="1800" b="1">
                <a:solidFill>
                  <a:srgbClr val="111827"/>
                </a:solidFill>
              </a:rPr>
              <a:t>People.</a:t>
            </a:r>
            <a:r>
              <a:rPr sz="1800">
                <a:solidFill>
                  <a:srgbClr val="111827"/>
                </a:solidFill>
              </a:rPr>
              <a:t> Hiding AI use: </a:t>
            </a:r>
            <a:r>
              <a:rPr sz="1800">
                <a:solidFill>
                  <a:srgbClr val="111827"/>
                </a:solidFill>
                <a:hlinkClick r:id="rId3"/>
              </a:rPr>
              <a:t>14 % where trust is highest, 47 % where lowest</a:t>
            </a:r>
            <a:r>
              <a:rPr sz="1800">
                <a:solidFill>
                  <a:srgbClr val="111827"/>
                </a:solidFill>
              </a:rPr>
              <a:t>.</a:t>
            </a:r>
          </a:p>
        </p:txBody>
      </p:sp>
      <p:sp>
        <p:nvSpPr>
          <p:cNvPr id="7" name="TextBox 6"/>
          <p:cNvSpPr txBox="1"/>
          <p:nvPr/>
        </p:nvSpPr>
        <p:spPr>
          <a:xfrm>
            <a:off x="731520" y="6309360"/>
            <a:ext cx="7315200" cy="320040"/>
          </a:xfrm>
          <a:prstGeom prst="rect">
            <a:avLst/>
          </a:prstGeom>
          <a:noFill/>
        </p:spPr>
        <p:txBody>
          <a:bodyPr wrap="square">
            <a:spAutoFit/>
          </a:bodyPr>
          <a:lstStyle/>
          <a:p>
            <a:r>
              <a:rPr sz="900">
                <a:solidFill>
                  <a:srgbClr val="6B7280"/>
                </a:solidFill>
              </a:rPr>
              <a:t>AI in Business · week 3</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731520" y="566928"/>
            <a:ext cx="320040" cy="73152"/>
          </a:xfrm>
          <a:prstGeom prst="rect">
            <a:avLst/>
          </a:prstGeom>
          <a:solidFill>
            <a:srgbClr val="D4DB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411480"/>
            <a:ext cx="7315200" cy="365760"/>
          </a:xfrm>
          <a:prstGeom prst="rect">
            <a:avLst/>
          </a:prstGeom>
          <a:noFill/>
        </p:spPr>
        <p:txBody>
          <a:bodyPr wrap="square">
            <a:spAutoFit/>
          </a:bodyPr>
          <a:lstStyle/>
          <a:p>
            <a:r>
              <a:rPr sz="1100" b="1">
                <a:solidFill>
                  <a:srgbClr val="1A1A1A"/>
                </a:solidFill>
              </a:rPr>
              <a:t>OUR RULEBOOK</a:t>
            </a:r>
          </a:p>
        </p:txBody>
      </p:sp>
      <p:sp>
        <p:nvSpPr>
          <p:cNvPr id="4" name="TextBox 3"/>
          <p:cNvSpPr txBox="1"/>
          <p:nvPr/>
        </p:nvSpPr>
        <p:spPr>
          <a:xfrm>
            <a:off x="9601200" y="411480"/>
            <a:ext cx="1828800" cy="365760"/>
          </a:xfrm>
          <a:prstGeom prst="rect">
            <a:avLst/>
          </a:prstGeom>
          <a:noFill/>
        </p:spPr>
        <p:txBody>
          <a:bodyPr wrap="square">
            <a:spAutoFit/>
          </a:bodyPr>
          <a:lstStyle/>
          <a:p>
            <a:pPr algn="r"/>
            <a:r>
              <a:rPr sz="1100">
                <a:solidFill>
                  <a:srgbClr val="6B7280"/>
                </a:solidFill>
              </a:rPr>
              <a:t>11 / 11</a:t>
            </a:r>
          </a:p>
        </p:txBody>
      </p:sp>
      <p:sp>
        <p:nvSpPr>
          <p:cNvPr id="5" name="TextBox 4"/>
          <p:cNvSpPr txBox="1"/>
          <p:nvPr/>
        </p:nvSpPr>
        <p:spPr>
          <a:xfrm>
            <a:off x="731520" y="914400"/>
            <a:ext cx="10698480" cy="1188720"/>
          </a:xfrm>
          <a:prstGeom prst="rect">
            <a:avLst/>
          </a:prstGeom>
          <a:noFill/>
        </p:spPr>
        <p:txBody>
          <a:bodyPr wrap="square">
            <a:spAutoFit/>
          </a:bodyPr>
          <a:lstStyle/>
          <a:p>
            <a:r>
              <a:rPr sz="3200" b="1">
                <a:solidFill>
                  <a:srgbClr val="111827"/>
                </a:solidFill>
              </a:rPr>
              <a:t>The rules we keep, week by week</a:t>
            </a:r>
          </a:p>
        </p:txBody>
      </p:sp>
      <p:sp>
        <p:nvSpPr>
          <p:cNvPr id="6" name="TextBox 5"/>
          <p:cNvSpPr txBox="1"/>
          <p:nvPr/>
        </p:nvSpPr>
        <p:spPr>
          <a:xfrm>
            <a:off x="731520" y="2103120"/>
            <a:ext cx="3261360" cy="3931920"/>
          </a:xfrm>
          <a:prstGeom prst="rect">
            <a:avLst/>
          </a:prstGeom>
          <a:noFill/>
        </p:spPr>
        <p:txBody>
          <a:bodyPr wrap="square">
            <a:spAutoFit/>
          </a:bodyPr>
          <a:lstStyle/>
          <a:p>
            <a:pPr>
              <a:spcAft>
                <a:spcPts val="800"/>
              </a:spcAft>
            </a:pPr>
            <a:r>
              <a:rPr sz="1800">
                <a:solidFill>
                  <a:srgbClr val="111827"/>
                </a:solidFill>
              </a:rPr>
              <a:t>Every time we spot a habit worth keeping, we turn it into a rule.</a:t>
            </a:r>
          </a:p>
          <a:p>
            <a:pPr>
              <a:spcAft>
                <a:spcPts val="800"/>
              </a:spcAft>
            </a:pPr>
            <a:r>
              <a:rPr sz="1100" b="1">
                <a:solidFill>
                  <a:srgbClr val="4B5563"/>
                </a:solidFill>
              </a:rPr>
              <a:t>RULE 1</a:t>
            </a:r>
          </a:p>
          <a:p>
            <a:pPr>
              <a:spcAft>
                <a:spcPts val="800"/>
              </a:spcAft>
            </a:pPr>
            <a:r>
              <a:rPr sz="1800">
                <a:solidFill>
                  <a:srgbClr val="111827"/>
                </a:solidFill>
              </a:rPr>
              <a:t>Before taking a break, </a:t>
            </a:r>
            <a:r>
              <a:rPr sz="1800" b="1">
                <a:solidFill>
                  <a:srgbClr val="111827"/>
                </a:solidFill>
              </a:rPr>
              <a:t>always</a:t>
            </a:r>
            <a:r>
              <a:rPr sz="1800">
                <a:solidFill>
                  <a:srgbClr val="111827"/>
                </a:solidFill>
              </a:rPr>
              <a:t> set AI to work.</a:t>
            </a:r>
          </a:p>
        </p:txBody>
      </p:sp>
      <p:sp>
        <p:nvSpPr>
          <p:cNvPr id="7" name="TextBox 6"/>
          <p:cNvSpPr txBox="1"/>
          <p:nvPr/>
        </p:nvSpPr>
        <p:spPr>
          <a:xfrm>
            <a:off x="4450080" y="2103120"/>
            <a:ext cx="3261360" cy="3931920"/>
          </a:xfrm>
          <a:prstGeom prst="rect">
            <a:avLst/>
          </a:prstGeom>
          <a:noFill/>
        </p:spPr>
        <p:txBody>
          <a:bodyPr wrap="square">
            <a:spAutoFit/>
          </a:bodyPr>
          <a:lstStyle/>
          <a:p>
            <a:pPr>
              <a:spcAft>
                <a:spcPts val="800"/>
              </a:spcAft>
            </a:pPr>
            <a:r>
              <a:rPr sz="1100" b="1">
                <a:solidFill>
                  <a:srgbClr val="4B5563"/>
                </a:solidFill>
              </a:rPr>
              <a:t>RULE 2</a:t>
            </a:r>
          </a:p>
          <a:p>
            <a:pPr>
              <a:spcAft>
                <a:spcPts val="800"/>
              </a:spcAft>
            </a:pPr>
            <a:r>
              <a:rPr sz="1800">
                <a:solidFill>
                  <a:srgbClr val="111827"/>
                </a:solidFill>
              </a:rPr>
              <a:t>Do something </a:t>
            </a:r>
            <a:r>
              <a:rPr sz="1800" b="1">
                <a:solidFill>
                  <a:srgbClr val="111827"/>
                </a:solidFill>
              </a:rPr>
              <a:t>weird</a:t>
            </a:r>
            <a:r>
              <a:rPr sz="1800">
                <a:solidFill>
                  <a:srgbClr val="111827"/>
                </a:solidFill>
              </a:rPr>
              <a:t>.</a:t>
            </a:r>
          </a:p>
        </p:txBody>
      </p:sp>
      <p:sp>
        <p:nvSpPr>
          <p:cNvPr id="8" name="TextBox 7"/>
          <p:cNvSpPr txBox="1"/>
          <p:nvPr/>
        </p:nvSpPr>
        <p:spPr>
          <a:xfrm>
            <a:off x="8168640" y="2103120"/>
            <a:ext cx="3261360" cy="3931920"/>
          </a:xfrm>
          <a:prstGeom prst="rect">
            <a:avLst/>
          </a:prstGeom>
          <a:noFill/>
        </p:spPr>
        <p:txBody>
          <a:bodyPr wrap="square">
            <a:spAutoFit/>
          </a:bodyPr>
          <a:lstStyle/>
          <a:p>
            <a:pPr>
              <a:spcAft>
                <a:spcPts val="800"/>
              </a:spcAft>
            </a:pPr>
            <a:r>
              <a:rPr sz="1100" b="1">
                <a:solidFill>
                  <a:srgbClr val="4B5563"/>
                </a:solidFill>
              </a:rPr>
              <a:t>RULE 3</a:t>
            </a:r>
          </a:p>
          <a:p>
            <a:pPr>
              <a:spcAft>
                <a:spcPts val="800"/>
              </a:spcAft>
            </a:pPr>
            <a:r>
              <a:rPr sz="1800" i="1">
                <a:solidFill>
                  <a:srgbClr val="6B7280"/>
                </a:solidFill>
              </a:rPr>
              <a:t>Added together in the session.</a:t>
            </a:r>
          </a:p>
        </p:txBody>
      </p:sp>
      <p:sp>
        <p:nvSpPr>
          <p:cNvPr id="9" name="TextBox 8"/>
          <p:cNvSpPr txBox="1"/>
          <p:nvPr/>
        </p:nvSpPr>
        <p:spPr>
          <a:xfrm>
            <a:off x="731520" y="6309360"/>
            <a:ext cx="7315200" cy="320040"/>
          </a:xfrm>
          <a:prstGeom prst="rect">
            <a:avLst/>
          </a:prstGeom>
          <a:noFill/>
        </p:spPr>
        <p:txBody>
          <a:bodyPr wrap="square">
            <a:spAutoFit/>
          </a:bodyPr>
          <a:lstStyle/>
          <a:p>
            <a:r>
              <a:rPr sz="900">
                <a:solidFill>
                  <a:srgbClr val="6B7280"/>
                </a:solidFill>
              </a:rPr>
              <a:t>AI in Business · week 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