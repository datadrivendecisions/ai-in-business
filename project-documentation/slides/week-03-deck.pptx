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Session of Monday 21 September. AIBS theme: trust and AI safety. AEL decision: where the team's knowledge lives.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Desk research: the tool AEL is building for the team's own research is the new part of the "way of working" — not a shortcut, a designed instrument. Field research: this is the case study visit, and it earns its place by giving the team something a desk cannot — data nobody else has, and a check against everything the desk work assumed.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Reliability, validity and transparency are the three questions to ask of a tool's own output, not just of what it retrieves. A team that cannot say "yes" to all three does not yet have a research instrument, it has a demo. Field research earns its place on a different axis: not whether it is reliable in the same sense, but whether the one case generalises — its relevance beyond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pivot slide. Reliability, validity and transparency are not new to research — they are the field's existing quality bar. What is new is asking them of a process that includes an AI tool: the tool's output has to clear the same bar a human researcher's would, and a team should be able to say how it knows.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room's own first result, not a hypothetical: this is the first time the search-strategy and quality-criteria assignments from week 2 come back to be checked rather than just handed in. Push on the middle question — "did you check" is a different claim from "did you write criteria" — and let the third question be answered honestly rather than diplomatically; a flat "not yet" is a better answer here than a confident guess.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separate questions, deliberately not collapsed into one. Trusting the tool's output is a methods question. Being trusted as a researcher is about the team's own credibility once AI is part of the process — a reader who cannot tell what the team checked will trust the whole page less, not more. Ownership is the one students usually have not considered: if the tool drafted it, whose work is it, and what do you say about that in the write-up?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exercise students do at home this week, alone, before the week 4 session. Say what it costs them (about 25 minutes and a laptop) and that the team number only sets the order of the two rounds. Say nothing about what the two rounds differ in: the comparison only works if they meet it cold. Their results come back in week 4, as one picture of the whole cohort.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rulebook, not the recap: read Rule 1 and Rule 2 as fixed and Rule 3 as the one the room writes today, the way week 2 wrote Rule 2. If nobody proposes one, offer a candidate rather than close the slide empty.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atadrivendecisions.github.io/ai-in-business/tool-bias-experiment.html" TargetMode="Externa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320040" cy="73152"/>
          </a:xfrm>
          <a:prstGeom prst="rect">
            <a:avLst/>
          </a:prstGeom>
          <a:solidFill>
            <a:srgbClr val="D4D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1A1A"/>
                </a:solidFill>
              </a:rPr>
              <a:t>AI IN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</a:rPr>
              <a:t>1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11827"/>
                </a:solidFill>
              </a:rPr>
              <a:t>Trust and AI safety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4B5563"/>
                </a:solidFill>
              </a:rPr>
              <a:t>Week 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AI in Business · week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320040" cy="73152"/>
          </a:xfrm>
          <a:prstGeom prst="rect">
            <a:avLst/>
          </a:prstGeom>
          <a:solidFill>
            <a:srgbClr val="D4D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1A1A"/>
                </a:solidFill>
              </a:rPr>
              <a:t>RESEARCH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</a:rPr>
              <a:t>2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11827"/>
                </a:solidFill>
              </a:rPr>
              <a:t>Desk research gets a tool; field research gets new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4B5563"/>
                </a:solidFill>
              </a:rPr>
              <a:t>DESK RESEARCH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A new way of working: you design the tool that helps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10312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4B5563"/>
                </a:solidFill>
              </a:rPr>
              <a:t>FIELD RESEARCH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New data, external validation, contact with your target audience.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AI in Business · week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320040" cy="73152"/>
          </a:xfrm>
          <a:prstGeom prst="rect">
            <a:avLst/>
          </a:prstGeom>
          <a:solidFill>
            <a:srgbClr val="D4D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1A1A"/>
                </a:solidFill>
              </a:rPr>
              <a:t>RESEARCH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</a:rPr>
              <a:t>3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11827"/>
                </a:solidFill>
              </a:rPr>
              <a:t>How do you create value in desk and field research?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4B5563"/>
                </a:solidFill>
              </a:rPr>
              <a:t>DESK RESEARCH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 b="1">
                <a:solidFill>
                  <a:srgbClr val="111827"/>
                </a:solidFill>
              </a:rPr>
              <a:t>Reliable?</a:t>
            </a:r>
            <a:r>
              <a:rPr sz="1800">
                <a:solidFill>
                  <a:srgbClr val="111827"/>
                </a:solidFill>
              </a:rPr>
              <a:t> Same result if you run it again.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 b="1">
                <a:solidFill>
                  <a:srgbClr val="111827"/>
                </a:solidFill>
              </a:rPr>
              <a:t>Valid?</a:t>
            </a:r>
            <a:r>
              <a:rPr sz="1800">
                <a:solidFill>
                  <a:srgbClr val="111827"/>
                </a:solidFill>
              </a:rPr>
              <a:t> Measures what it claims to.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 b="1">
                <a:solidFill>
                  <a:srgbClr val="111827"/>
                </a:solidFill>
              </a:rPr>
              <a:t>Transparent?</a:t>
            </a:r>
            <a:r>
              <a:rPr sz="1800">
                <a:solidFill>
                  <a:srgbClr val="111827"/>
                </a:solidFill>
              </a:rPr>
              <a:t> You can show how it works.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10312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4B5563"/>
                </a:solidFill>
              </a:rPr>
              <a:t>FIELD RESEARCH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11827"/>
                </a:solidFill>
              </a:rPr>
              <a:t>Relevance?</a:t>
            </a:r>
            <a:r>
              <a:rPr sz="1800">
                <a:solidFill>
                  <a:srgbClr val="111827"/>
                </a:solidFill>
              </a:rPr>
              <a:t> What your case study says beyond itself.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AI in Business · week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320040" cy="73152"/>
          </a:xfrm>
          <a:prstGeom prst="rect">
            <a:avLst/>
          </a:prstGeom>
          <a:solidFill>
            <a:srgbClr val="D4D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1A1A"/>
                </a:solidFill>
              </a:rPr>
              <a:t>RESEARCH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</a:rPr>
              <a:t>4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11827"/>
                </a:solidFill>
              </a:rPr>
              <a:t>Reliability, validity, transparency — your quality criteria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698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What changes when you work with AI?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AI in Business · week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320040" cy="73152"/>
          </a:xfrm>
          <a:prstGeom prst="rect">
            <a:avLst/>
          </a:prstGeom>
          <a:solidFill>
            <a:srgbClr val="D4D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1A1A"/>
                </a:solidFill>
              </a:rPr>
              <a:t>RESEARCH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</a:rPr>
              <a:t>5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11827"/>
                </a:solidFill>
              </a:rPr>
              <a:t>Discussion: your first handbook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698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 b="1">
                <a:solidFill>
                  <a:srgbClr val="111827"/>
                </a:solidFill>
              </a:rPr>
              <a:t>Search strategy.</a:t>
            </a:r>
            <a:r>
              <a:rPr sz="1800">
                <a:solidFill>
                  <a:srgbClr val="111827"/>
                </a:solidFill>
              </a:rPr>
              <a:t> How did you use it in the tool?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 b="1">
                <a:solidFill>
                  <a:srgbClr val="111827"/>
                </a:solidFill>
              </a:rPr>
              <a:t>Quality criteria.</a:t>
            </a:r>
            <a:r>
              <a:rPr sz="1800">
                <a:solidFill>
                  <a:srgbClr val="111827"/>
                </a:solidFill>
              </a:rPr>
              <a:t> Were they respected?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 b="1">
                <a:solidFill>
                  <a:srgbClr val="111827"/>
                </a:solidFill>
              </a:rPr>
              <a:t>Output quality.</a:t>
            </a:r>
            <a:r>
              <a:rPr sz="1800">
                <a:solidFill>
                  <a:srgbClr val="111827"/>
                </a:solidFill>
              </a:rPr>
              <a:t> How would you rate it today?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AI in Business · week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320040" cy="73152"/>
          </a:xfrm>
          <a:prstGeom prst="rect">
            <a:avLst/>
          </a:prstGeom>
          <a:solidFill>
            <a:srgbClr val="D4D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1A1A"/>
                </a:solidFill>
              </a:rPr>
              <a:t>RESEARCH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</a:rPr>
              <a:t>6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11827"/>
                </a:solidFill>
              </a:rPr>
              <a:t>Trust splits three ways: the tool, you, and ownership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698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 b="1">
                <a:solidFill>
                  <a:srgbClr val="111827"/>
                </a:solidFill>
              </a:rPr>
              <a:t>The tool.</a:t>
            </a:r>
            <a:r>
              <a:rPr sz="1800">
                <a:solidFill>
                  <a:srgbClr val="111827"/>
                </a:solidFill>
              </a:rPr>
              <a:t> Can you trust what it produces?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 b="1">
                <a:solidFill>
                  <a:srgbClr val="111827"/>
                </a:solidFill>
              </a:rPr>
              <a:t>You.</a:t>
            </a:r>
            <a:r>
              <a:rPr sz="1800">
                <a:solidFill>
                  <a:srgbClr val="111827"/>
                </a:solidFill>
              </a:rPr>
              <a:t> Can you be trusted as the researcher?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 b="1">
                <a:solidFill>
                  <a:srgbClr val="111827"/>
                </a:solidFill>
              </a:rPr>
              <a:t>Ownership.</a:t>
            </a:r>
            <a:r>
              <a:rPr sz="1800">
                <a:solidFill>
                  <a:srgbClr val="111827"/>
                </a:solidFill>
              </a:rPr>
              <a:t> Whose output is 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AI in Business · week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320040" cy="73152"/>
          </a:xfrm>
          <a:prstGeom prst="rect">
            <a:avLst/>
          </a:prstGeom>
          <a:solidFill>
            <a:srgbClr val="D4D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1A1A"/>
                </a:solidFill>
              </a:rPr>
              <a:t>HOMEWORK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</a:rPr>
              <a:t>7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11827"/>
                </a:solidFill>
              </a:rPr>
              <a:t>One exercise on your own, before week 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698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About 25 minutes, any evening this week. </a:t>
            </a:r>
            <a:r>
              <a:rPr sz="1800">
                <a:solidFill>
                  <a:srgbClr val="111827"/>
                </a:solidFill>
                <a:hlinkClick r:id="rId2"/>
              </a:rPr>
              <a:t>The exercise is here</a:t>
            </a:r>
            <a:r>
              <a:rPr sz="1800">
                <a:solidFill>
                  <a:srgbClr val="111827"/>
                </a:solidFill>
              </a:rPr>
              <a:t>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 b="1">
                <a:solidFill>
                  <a:srgbClr val="111827"/>
                </a:solidFill>
              </a:rPr>
              <a:t>Bring</a:t>
            </a:r>
            <a:r>
              <a:rPr sz="1800">
                <a:solidFill>
                  <a:srgbClr val="111827"/>
                </a:solidFill>
              </a:rPr>
              <a:t> your own AI assistant, signed 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 b="1">
                <a:solidFill>
                  <a:srgbClr val="111827"/>
                </a:solidFill>
              </a:rPr>
              <a:t>Your team number</a:t>
            </a:r>
            <a:r>
              <a:rPr sz="1800">
                <a:solidFill>
                  <a:srgbClr val="111827"/>
                </a:solidFill>
              </a:rPr>
              <a:t> sets the order of two rounds. Nothing else.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•  </a:t>
            </a:r>
            <a:r>
              <a:rPr sz="1800" b="1">
                <a:solidFill>
                  <a:srgbClr val="111827"/>
                </a:solidFill>
              </a:rPr>
              <a:t>In week 4</a:t>
            </a:r>
            <a:r>
              <a:rPr sz="1800">
                <a:solidFill>
                  <a:srgbClr val="111827"/>
                </a:solidFill>
              </a:rPr>
              <a:t> we read what the whole cohort did.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AI in Business · week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320040" cy="73152"/>
          </a:xfrm>
          <a:prstGeom prst="rect">
            <a:avLst/>
          </a:prstGeom>
          <a:solidFill>
            <a:srgbClr val="D4D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1A1A"/>
                </a:solidFill>
              </a:rPr>
              <a:t>OUR RULEBOOK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</a:rPr>
              <a:t>8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11827"/>
                </a:solidFill>
              </a:rPr>
              <a:t>The rules we keep, week by 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3261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Every time we spot a habit worth keeping, we turn it into a rule.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4B5563"/>
                </a:solidFill>
              </a:rPr>
              <a:t>RULE 1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Before taking a break, </a:t>
            </a:r>
            <a:r>
              <a:rPr sz="1800" b="1">
                <a:solidFill>
                  <a:srgbClr val="111827"/>
                </a:solidFill>
              </a:rPr>
              <a:t>always</a:t>
            </a:r>
            <a:r>
              <a:rPr sz="1800">
                <a:solidFill>
                  <a:srgbClr val="111827"/>
                </a:solidFill>
              </a:rPr>
              <a:t> set AI to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50080" y="2103120"/>
            <a:ext cx="3261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4B5563"/>
                </a:solidFill>
              </a:rPr>
              <a:t>RULE 2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</a:rPr>
              <a:t>Do something </a:t>
            </a:r>
            <a:r>
              <a:rPr sz="1800" b="1">
                <a:solidFill>
                  <a:srgbClr val="111827"/>
                </a:solidFill>
              </a:rPr>
              <a:t>weird</a:t>
            </a:r>
            <a:r>
              <a:rPr sz="1800">
                <a:solidFill>
                  <a:srgbClr val="111827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68640" y="2103120"/>
            <a:ext cx="3261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4B5563"/>
                </a:solidFill>
              </a:rPr>
              <a:t>RULE 3</a:t>
            </a:r>
          </a:p>
          <a:p>
            <a:pPr>
              <a:spcAft>
                <a:spcPts val="800"/>
              </a:spcAft>
            </a:pPr>
            <a:r>
              <a:rPr sz="1800" i="1">
                <a:solidFill>
                  <a:srgbClr val="6B7280"/>
                </a:solidFill>
              </a:rPr>
              <a:t>Added together in the session.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AI in Business · week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